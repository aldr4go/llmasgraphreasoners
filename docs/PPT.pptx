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44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8DEEF-799D-56EB-740E-BFC2464CAA21}" v="4" dt="2026-05-04T09:46:05.152"/>
    <p1510:client id="{328EAF76-B1E9-462D-08E3-2D301E17FE79}" v="125" dt="2026-05-04T10:02:21.642"/>
    <p1510:client id="{4B1AC17F-C264-301E-3340-1B369211E332}" v="108" dt="2026-05-04T10:29:29.675"/>
    <p1510:client id="{A361F625-8D03-6E97-BD9D-95DB025CE1AB}" v="43" dt="2026-05-04T10:32:40.501"/>
    <p1510:client id="{D410FD93-4B56-7487-8AAB-46A7B28A6D41}" v="163" dt="2026-05-04T09:52:03.144"/>
    <p1510:client id="{E4C5F20E-8359-4146-95C0-1AE42C8A088C}" v="901" dt="2026-05-04T10:21:40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16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4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5.png"/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5" Type="http://schemas.openxmlformats.org/officeDocument/2006/relationships/image" Target="../media/image57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3.png"/><Relationship Id="rId5" Type="http://schemas.openxmlformats.org/officeDocument/2006/relationships/image" Target="../media/image58.png"/><Relationship Id="rId10" Type="http://schemas.openxmlformats.org/officeDocument/2006/relationships/image" Target="../media/image57.png"/><Relationship Id="rId4" Type="http://schemas.openxmlformats.org/officeDocument/2006/relationships/image" Target="../media/image24.png"/><Relationship Id="rId9" Type="http://schemas.openxmlformats.org/officeDocument/2006/relationships/image" Target="../media/image62.png"/><Relationship Id="rId1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41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77.png"/><Relationship Id="rId12" Type="http://schemas.openxmlformats.org/officeDocument/2006/relationships/image" Target="../media/image80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44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10" Type="http://schemas.openxmlformats.org/officeDocument/2006/relationships/image" Target="../media/image43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89.png"/><Relationship Id="rId5" Type="http://schemas.openxmlformats.org/officeDocument/2006/relationships/image" Target="../media/image86.png"/><Relationship Id="rId10" Type="http://schemas.openxmlformats.org/officeDocument/2006/relationships/image" Target="../media/image11.png"/><Relationship Id="rId4" Type="http://schemas.openxmlformats.org/officeDocument/2006/relationships/image" Target="../media/image85.png"/><Relationship Id="rId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87.png"/><Relationship Id="rId10" Type="http://schemas.openxmlformats.org/officeDocument/2006/relationships/image" Target="../media/image10.png"/><Relationship Id="rId4" Type="http://schemas.openxmlformats.org/officeDocument/2006/relationships/image" Target="../media/image24.png"/><Relationship Id="rId9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97.png"/><Relationship Id="rId3" Type="http://schemas.openxmlformats.org/officeDocument/2006/relationships/image" Target="../media/image2.png"/><Relationship Id="rId7" Type="http://schemas.openxmlformats.org/officeDocument/2006/relationships/image" Target="../media/image94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34.png"/><Relationship Id="rId5" Type="http://schemas.openxmlformats.org/officeDocument/2006/relationships/image" Target="../media/image58.png"/><Relationship Id="rId10" Type="http://schemas.openxmlformats.org/officeDocument/2006/relationships/image" Target="../media/image96.png"/><Relationship Id="rId4" Type="http://schemas.openxmlformats.org/officeDocument/2006/relationships/image" Target="../media/image24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2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24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10.png"/><Relationship Id="rId10" Type="http://schemas.openxmlformats.org/officeDocument/2006/relationships/image" Target="../media/image11.png"/><Relationship Id="rId4" Type="http://schemas.openxmlformats.org/officeDocument/2006/relationships/image" Target="../media/image37.png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1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15.png"/><Relationship Id="rId5" Type="http://schemas.openxmlformats.org/officeDocument/2006/relationships/image" Target="../media/image111.png"/><Relationship Id="rId10" Type="http://schemas.openxmlformats.org/officeDocument/2006/relationships/image" Target="../media/image114.png"/><Relationship Id="rId4" Type="http://schemas.openxmlformats.org/officeDocument/2006/relationships/image" Target="../media/image6.png"/><Relationship Id="rId9" Type="http://schemas.openxmlformats.org/officeDocument/2006/relationships/image" Target="../media/image113.png"/><Relationship Id="rId1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61695" y="700430"/>
            <a:ext cx="10668305" cy="141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00" b="1" kern="0" spc="-37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</a:t>
            </a:r>
            <a:r>
              <a:rPr lang="en-US" sz="4200" b="1" kern="0" spc="-37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Graph Reasoners: </a:t>
            </a:r>
            <a:r>
              <a:rPr lang="en-US" sz="4200" b="1" kern="0" spc="-37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Criticality  and Path Robustness in </a:t>
            </a:r>
            <a:r>
              <a:rPr lang="en-US" sz="4200" b="1" kern="0" spc="-37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Last-Mile Routing</a:t>
            </a:r>
            <a:endParaRPr lang="en-US" sz="4200">
              <a:solidFill>
                <a:schemeClr val="bg1"/>
              </a:solidFill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761695" y="2300630"/>
            <a:ext cx="10668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>
                <a:solidFill>
                  <a:srgbClr val="B8C5D6"/>
                </a:solidFill>
                <a:latin typeface="Segoe UI"/>
                <a:cs typeface="Segoe UI"/>
              </a:rPr>
              <a:t>DAL-310 (Data, Models &amp; Decisions)</a:t>
            </a:r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185562" y="3081528"/>
            <a:ext cx="1828800" cy="409651"/>
          </a:xfrm>
          <a:prstGeom prst="roundRect">
            <a:avLst>
              <a:gd name="adj" fmla="val 207641"/>
            </a:avLst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3000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295290" y="3185770"/>
            <a:ext cx="1610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TSP Project</a:t>
            </a:r>
            <a:endParaRPr lang="en-US" sz="1200"/>
          </a:p>
        </p:txBody>
      </p:sp>
      <p:sp>
        <p:nvSpPr>
          <p:cNvPr id="9" name="Shape 5"/>
          <p:cNvSpPr/>
          <p:nvPr/>
        </p:nvSpPr>
        <p:spPr>
          <a:xfrm>
            <a:off x="2476195" y="4443070"/>
            <a:ext cx="2095805" cy="1009498"/>
          </a:xfrm>
          <a:prstGeom prst="roundRect">
            <a:avLst>
              <a:gd name="adj" fmla="val 205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829154" y="4681728"/>
            <a:ext cx="1390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Amogh Lal</a:t>
            </a:r>
            <a:endParaRPr lang="en-US" sz="1500"/>
          </a:p>
        </p:txBody>
      </p:sp>
      <p:sp>
        <p:nvSpPr>
          <p:cNvPr id="11" name="Text 7"/>
          <p:cNvSpPr txBox="1"/>
          <p:nvPr/>
        </p:nvSpPr>
        <p:spPr>
          <a:xfrm>
            <a:off x="2829154" y="5014570"/>
            <a:ext cx="1390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5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23115012</a:t>
            </a:r>
            <a:endParaRPr lang="en-US" sz="1200"/>
          </a:p>
        </p:txBody>
      </p:sp>
      <p:sp>
        <p:nvSpPr>
          <p:cNvPr id="12" name="Shape 8"/>
          <p:cNvSpPr/>
          <p:nvPr/>
        </p:nvSpPr>
        <p:spPr>
          <a:xfrm>
            <a:off x="5048402" y="4443070"/>
            <a:ext cx="2095805" cy="1009498"/>
          </a:xfrm>
          <a:prstGeom prst="roundRect">
            <a:avLst>
              <a:gd name="adj" fmla="val 205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59298" y="4681728"/>
            <a:ext cx="14730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Sargam Goyal</a:t>
            </a:r>
            <a:endParaRPr lang="en-US" sz="1500"/>
          </a:p>
        </p:txBody>
      </p:sp>
      <p:sp>
        <p:nvSpPr>
          <p:cNvPr id="14" name="Text 10"/>
          <p:cNvSpPr txBox="1"/>
          <p:nvPr/>
        </p:nvSpPr>
        <p:spPr>
          <a:xfrm>
            <a:off x="5400446" y="5014570"/>
            <a:ext cx="1390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5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23125031</a:t>
            </a:r>
            <a:endParaRPr lang="en-US" sz="1200"/>
          </a:p>
        </p:txBody>
      </p:sp>
      <p:sp>
        <p:nvSpPr>
          <p:cNvPr id="15" name="Shape 11"/>
          <p:cNvSpPr/>
          <p:nvPr/>
        </p:nvSpPr>
        <p:spPr>
          <a:xfrm>
            <a:off x="7619695" y="4443070"/>
            <a:ext cx="2095805" cy="1009498"/>
          </a:xfrm>
          <a:prstGeom prst="roundRect">
            <a:avLst>
              <a:gd name="adj" fmla="val 205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31506" y="4681728"/>
            <a:ext cx="14730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Tanish Verma</a:t>
            </a:r>
            <a:endParaRPr lang="en-US" sz="1500"/>
          </a:p>
        </p:txBody>
      </p:sp>
      <p:sp>
        <p:nvSpPr>
          <p:cNvPr id="17" name="Text 13"/>
          <p:cNvSpPr txBox="1"/>
          <p:nvPr/>
        </p:nvSpPr>
        <p:spPr>
          <a:xfrm>
            <a:off x="7972654" y="5014570"/>
            <a:ext cx="1390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5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23125035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5549494" y="5928970"/>
            <a:ext cx="11000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B8C5D6"/>
                </a:solidFill>
                <a:latin typeface="Segoe UI"/>
                <a:ea typeface="Segoe UI" pitchFamily="34" charset="-122"/>
                <a:cs typeface="Segoe UI"/>
              </a:rPr>
              <a:t>May 4, 2026</a:t>
            </a:r>
            <a:endParaRPr lang="en-US" sz="1300">
              <a:latin typeface="Segoe UI"/>
              <a:cs typeface="Segoe UI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10287000" y="2857500"/>
            <a:ext cx="1143000" cy="1143000"/>
          </a:xfrm>
          <a:prstGeom prst="ellipse">
            <a:avLst/>
          </a:prstGeom>
          <a:noFill/>
          <a:ln w="381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429646" y="3000146"/>
            <a:ext cx="761695" cy="761695"/>
          </a:xfrm>
          <a:prstGeom prst="ellipse">
            <a:avLst/>
          </a:prstGeom>
          <a:noFill/>
          <a:ln w="254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639044" y="3209544"/>
            <a:ext cx="381305" cy="3813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" y="4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5287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Overview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59728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Evaluating edge importance in TSP solutions for last-mile delivery optimization</a:t>
            </a:r>
            <a:endParaRPr lang="en-US" sz="12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11205" y="309982"/>
            <a:ext cx="571500" cy="5715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11168482" y="480974"/>
            <a:ext cx="256946" cy="228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59409" y="1037844"/>
            <a:ext cx="6577279" cy="1438351"/>
          </a:xfrm>
          <a:prstGeom prst="roundRect">
            <a:avLst>
              <a:gd name="adj" fmla="val 743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847649" y="1571854"/>
            <a:ext cx="6400800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7649" y="1190549"/>
            <a:ext cx="304495" cy="30449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33602" y="1276502"/>
            <a:ext cx="133502" cy="13350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266444" y="1228954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300"/>
          </a:p>
        </p:txBody>
      </p:sp>
      <p:sp>
        <p:nvSpPr>
          <p:cNvPr id="14" name="Text 7"/>
          <p:cNvSpPr txBox="1"/>
          <p:nvPr/>
        </p:nvSpPr>
        <p:spPr>
          <a:xfrm>
            <a:off x="847649" y="1742846"/>
            <a:ext cx="64008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333333"/>
                </a:solidFill>
                <a:latin typeface="Segoe UI"/>
                <a:ea typeface="Segoe UI" pitchFamily="34" charset="-122"/>
                <a:cs typeface="Segoe UI"/>
              </a:rPr>
              <a:t>The Traveling Salesman Problem (TSP) is a fundamental combinatorial optimization challenge with critical applications in last-mile delivery and routing. This research addresses the need to quantify edge importance in TSP solutions, a measure of how critical each edge is to the overall tour cost.</a:t>
            </a:r>
            <a:endParaRPr lang="en-US" sz="1000">
              <a:latin typeface="Segoe UI"/>
              <a:cs typeface="Segoe UI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759409" y="2678823"/>
            <a:ext cx="6577279" cy="2027227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847649" y="3204271"/>
            <a:ext cx="6400800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7649" y="2822970"/>
            <a:ext cx="304495" cy="304495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947318" y="2908923"/>
            <a:ext cx="105156" cy="13350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266444" y="2861375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Contributions</a:t>
            </a:r>
            <a:endParaRPr lang="en-US" sz="1300"/>
          </a:p>
        </p:txBody>
      </p:sp>
      <p:sp>
        <p:nvSpPr>
          <p:cNvPr id="20" name="Text 11"/>
          <p:cNvSpPr txBox="1"/>
          <p:nvPr/>
        </p:nvSpPr>
        <p:spPr>
          <a:xfrm>
            <a:off x="1190549" y="3375267"/>
            <a:ext cx="6057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Eval-1 Framework: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Ground-truth importance metric computed by systematically perturbing each edge in the base optimal tour</a:t>
            </a:r>
            <a:endParaRPr lang="en-US" sz="1000"/>
          </a:p>
        </p:txBody>
      </p:sp>
      <p:sp>
        <p:nvSpPr>
          <p:cNvPr id="21" name="Shape 12"/>
          <p:cNvSpPr/>
          <p:nvPr/>
        </p:nvSpPr>
        <p:spPr>
          <a:xfrm>
            <a:off x="847649" y="339446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909828" y="3452073"/>
            <a:ext cx="105156" cy="1143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190549" y="3893973"/>
            <a:ext cx="67437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Processing: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LKH-3 metaheuristic solver with parallel edge perturbation processing</a:t>
            </a:r>
            <a:endParaRPr lang="en-US" sz="1000"/>
          </a:p>
        </p:txBody>
      </p:sp>
      <p:sp>
        <p:nvSpPr>
          <p:cNvPr id="24" name="Shape 14"/>
          <p:cNvSpPr/>
          <p:nvPr/>
        </p:nvSpPr>
        <p:spPr>
          <a:xfrm>
            <a:off x="847649" y="3909273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909828" y="3965970"/>
            <a:ext cx="105156" cy="1143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1190549" y="4252177"/>
            <a:ext cx="6057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Demonstrates feasibility of computing exact edge importance for large real-world routing instances</a:t>
            </a:r>
            <a:endParaRPr lang="en-US" sz="1000"/>
          </a:p>
        </p:txBody>
      </p:sp>
      <p:sp>
        <p:nvSpPr>
          <p:cNvPr id="27" name="Shape 16"/>
          <p:cNvSpPr/>
          <p:nvPr/>
        </p:nvSpPr>
        <p:spPr>
          <a:xfrm>
            <a:off x="847649" y="4271379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909828" y="4328068"/>
            <a:ext cx="105156" cy="114300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750723" y="4917983"/>
            <a:ext cx="6577279" cy="1634788"/>
          </a:xfrm>
          <a:prstGeom prst="roundRect">
            <a:avLst>
              <a:gd name="adj" fmla="val 743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847649" y="5483498"/>
            <a:ext cx="6400800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7649" y="5102193"/>
            <a:ext cx="304495" cy="304495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914400" y="5188147"/>
            <a:ext cx="171907" cy="133502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1266444" y="5140598"/>
            <a:ext cx="21881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Overview</a:t>
            </a:r>
            <a:endParaRPr lang="en-US" sz="1300"/>
          </a:p>
        </p:txBody>
      </p:sp>
      <p:sp>
        <p:nvSpPr>
          <p:cNvPr id="34" name="Text 20"/>
          <p:cNvSpPr txBox="1"/>
          <p:nvPr/>
        </p:nvSpPr>
        <p:spPr>
          <a:xfrm>
            <a:off x="856116" y="5631350"/>
            <a:ext cx="329184" cy="287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</a:t>
            </a:r>
            <a:endParaRPr lang="en-US" sz="1200"/>
          </a:p>
        </p:txBody>
      </p:sp>
      <p:sp>
        <p:nvSpPr>
          <p:cNvPr id="35" name="Text 21"/>
          <p:cNvSpPr txBox="1"/>
          <p:nvPr/>
        </p:nvSpPr>
        <p:spPr>
          <a:xfrm>
            <a:off x="1249985" y="5684666"/>
            <a:ext cx="3931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</a:t>
            </a:r>
            <a:endParaRPr lang="en-US" sz="900"/>
          </a:p>
        </p:txBody>
      </p:sp>
      <p:sp>
        <p:nvSpPr>
          <p:cNvPr id="36" name="Text 22"/>
          <p:cNvSpPr txBox="1"/>
          <p:nvPr/>
        </p:nvSpPr>
        <p:spPr>
          <a:xfrm>
            <a:off x="4123944" y="5654491"/>
            <a:ext cx="191110" cy="247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7×</a:t>
            </a:r>
            <a:endParaRPr lang="en-US" sz="1200"/>
          </a:p>
        </p:txBody>
      </p:sp>
      <p:sp>
        <p:nvSpPr>
          <p:cNvPr id="37" name="Text 23"/>
          <p:cNvSpPr txBox="1"/>
          <p:nvPr/>
        </p:nvSpPr>
        <p:spPr>
          <a:xfrm>
            <a:off x="4388206" y="5684666"/>
            <a:ext cx="13679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Penalty Multiplier</a:t>
            </a:r>
            <a:endParaRPr lang="en-US" sz="900"/>
          </a:p>
        </p:txBody>
      </p:sp>
      <p:sp>
        <p:nvSpPr>
          <p:cNvPr id="38" name="Text 24"/>
          <p:cNvSpPr txBox="1"/>
          <p:nvPr/>
        </p:nvSpPr>
        <p:spPr>
          <a:xfrm>
            <a:off x="847649" y="6051340"/>
            <a:ext cx="283464" cy="247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</a:t>
            </a:r>
            <a:endParaRPr lang="en-US" sz="1200"/>
          </a:p>
        </p:txBody>
      </p:sp>
      <p:sp>
        <p:nvSpPr>
          <p:cNvPr id="39" name="Text 25"/>
          <p:cNvSpPr txBox="1"/>
          <p:nvPr/>
        </p:nvSpPr>
        <p:spPr>
          <a:xfrm>
            <a:off x="1154887" y="6081516"/>
            <a:ext cx="7616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Trials</a:t>
            </a:r>
            <a:endParaRPr lang="en-US" sz="900"/>
          </a:p>
        </p:txBody>
      </p:sp>
      <p:sp>
        <p:nvSpPr>
          <p:cNvPr id="40" name="Text 26"/>
          <p:cNvSpPr txBox="1"/>
          <p:nvPr/>
        </p:nvSpPr>
        <p:spPr>
          <a:xfrm>
            <a:off x="4123944" y="6051340"/>
            <a:ext cx="587045" cy="247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3-5min</a:t>
            </a:r>
            <a:endParaRPr lang="en-US" sz="1200"/>
          </a:p>
        </p:txBody>
      </p:sp>
      <p:sp>
        <p:nvSpPr>
          <p:cNvPr id="41" name="Text 27"/>
          <p:cNvSpPr txBox="1"/>
          <p:nvPr/>
        </p:nvSpPr>
        <p:spPr>
          <a:xfrm>
            <a:off x="4694530" y="6081516"/>
            <a:ext cx="544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</a:t>
            </a:r>
            <a:endParaRPr lang="en-US" sz="900"/>
          </a:p>
        </p:txBody>
      </p:sp>
      <p:sp>
        <p:nvSpPr>
          <p:cNvPr id="42" name="Shape 28"/>
          <p:cNvSpPr/>
          <p:nvPr/>
        </p:nvSpPr>
        <p:spPr>
          <a:xfrm>
            <a:off x="7772400" y="952805"/>
            <a:ext cx="3810305" cy="308610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29"/>
          <p:cNvSpPr/>
          <p:nvPr/>
        </p:nvSpPr>
        <p:spPr>
          <a:xfrm>
            <a:off x="8010144" y="1571854"/>
            <a:ext cx="3333902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10144" y="1190549"/>
            <a:ext cx="304495" cy="304495"/>
          </a:xfrm>
          <a:prstGeom prst="rect">
            <a:avLst/>
          </a:prstGeom>
        </p:spPr>
      </p:pic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96098" y="1276502"/>
            <a:ext cx="133502" cy="133502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8429854" y="122895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Details</a:t>
            </a:r>
            <a:endParaRPr lang="en-US" sz="1300"/>
          </a:p>
        </p:txBody>
      </p:sp>
      <p:sp>
        <p:nvSpPr>
          <p:cNvPr id="47" name="Text 31"/>
          <p:cNvSpPr txBox="1"/>
          <p:nvPr/>
        </p:nvSpPr>
        <p:spPr>
          <a:xfrm>
            <a:off x="8353044" y="1742846"/>
            <a:ext cx="29910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Construction: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Sparse K-nearest neighbors graph (K=4) from delivery locations</a:t>
            </a:r>
            <a:endParaRPr lang="en-US" sz="1000"/>
          </a:p>
        </p:txBody>
      </p:sp>
      <p:sp>
        <p:nvSpPr>
          <p:cNvPr id="48" name="Shape 32"/>
          <p:cNvSpPr/>
          <p:nvPr/>
        </p:nvSpPr>
        <p:spPr>
          <a:xfrm>
            <a:off x="8010144" y="1762049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072323" y="1819656"/>
            <a:ext cx="105156" cy="114300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8353044" y="2257654"/>
            <a:ext cx="29910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TSP Solution: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LKH-3 solver with warm-start optimization</a:t>
            </a:r>
            <a:endParaRPr lang="en-US" sz="1000"/>
          </a:p>
        </p:txBody>
      </p:sp>
      <p:sp>
        <p:nvSpPr>
          <p:cNvPr id="51" name="Shape 34"/>
          <p:cNvSpPr/>
          <p:nvPr/>
        </p:nvSpPr>
        <p:spPr>
          <a:xfrm>
            <a:off x="8010144" y="227685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072323" y="2333549"/>
            <a:ext cx="105156" cy="114300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8353044" y="2771546"/>
            <a:ext cx="29910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Execution: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ProcessPoolExecutor for concurrent edge perturbations</a:t>
            </a:r>
            <a:endParaRPr lang="en-US" sz="1000"/>
          </a:p>
        </p:txBody>
      </p:sp>
      <p:sp>
        <p:nvSpPr>
          <p:cNvPr id="54" name="Shape 36"/>
          <p:cNvSpPr/>
          <p:nvPr/>
        </p:nvSpPr>
        <p:spPr>
          <a:xfrm>
            <a:off x="8010144" y="2790749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072323" y="2848356"/>
            <a:ext cx="105156" cy="114300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8353044" y="3286354"/>
            <a:ext cx="29910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Importance Computation: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Relative cost increase calculation</a:t>
            </a:r>
            <a:endParaRPr lang="en-US" sz="1000"/>
          </a:p>
        </p:txBody>
      </p:sp>
      <p:sp>
        <p:nvSpPr>
          <p:cNvPr id="57" name="Shape 38"/>
          <p:cNvSpPr/>
          <p:nvPr/>
        </p:nvSpPr>
        <p:spPr>
          <a:xfrm>
            <a:off x="8010144" y="330555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072323" y="3362249"/>
            <a:ext cx="105156" cy="114300"/>
          </a:xfrm>
          <a:prstGeom prst="rect">
            <a:avLst/>
          </a:prstGeom>
        </p:spPr>
      </p:pic>
      <p:sp>
        <p:nvSpPr>
          <p:cNvPr id="59" name="Shape 39"/>
          <p:cNvSpPr/>
          <p:nvPr/>
        </p:nvSpPr>
        <p:spPr>
          <a:xfrm>
            <a:off x="7772400" y="4265762"/>
            <a:ext cx="3810305" cy="245890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40"/>
          <p:cNvSpPr/>
          <p:nvPr/>
        </p:nvSpPr>
        <p:spPr>
          <a:xfrm>
            <a:off x="8010144" y="4762739"/>
            <a:ext cx="3333902" cy="17456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23984" y="4394401"/>
            <a:ext cx="276814" cy="276814"/>
          </a:xfrm>
          <a:prstGeom prst="rect">
            <a:avLst/>
          </a:prstGeom>
        </p:spPr>
      </p:pic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12"/>
          <a:srcRect l="-837" r="-837"/>
          <a:stretch/>
        </p:blipFill>
        <p:spPr>
          <a:xfrm>
            <a:off x="8093895" y="4472583"/>
            <a:ext cx="138823" cy="121365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8429854" y="4429357"/>
            <a:ext cx="104333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Results</a:t>
            </a:r>
            <a:endParaRPr lang="en-US" sz="1300"/>
          </a:p>
        </p:txBody>
      </p:sp>
      <p:pic>
        <p:nvPicPr>
          <p:cNvPr id="64" name="Image 20" descr="preencoded.png"/>
          <p:cNvPicPr>
            <a:picLocks noChangeAspect="1"/>
          </p:cNvPicPr>
          <p:nvPr/>
        </p:nvPicPr>
        <p:blipFill>
          <a:blip r:embed="rId13"/>
          <a:srcRect t="-8" b="-8"/>
          <a:stretch/>
        </p:blipFill>
        <p:spPr>
          <a:xfrm>
            <a:off x="8161685" y="4980323"/>
            <a:ext cx="3030820" cy="949314"/>
          </a:xfrm>
          <a:prstGeom prst="rect">
            <a:avLst/>
          </a:prstGeom>
        </p:spPr>
      </p:pic>
      <p:sp>
        <p:nvSpPr>
          <p:cNvPr id="65" name="Text 42"/>
          <p:cNvSpPr txBox="1"/>
          <p:nvPr/>
        </p:nvSpPr>
        <p:spPr>
          <a:xfrm>
            <a:off x="8162849" y="5102479"/>
            <a:ext cx="302940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8088.40</a:t>
            </a:r>
            <a:endParaRPr lang="en-US" sz="1800"/>
          </a:p>
        </p:txBody>
      </p:sp>
      <p:sp>
        <p:nvSpPr>
          <p:cNvPr id="66" name="Text 43"/>
          <p:cNvSpPr txBox="1"/>
          <p:nvPr/>
        </p:nvSpPr>
        <p:spPr>
          <a:xfrm>
            <a:off x="8162849" y="5498415"/>
            <a:ext cx="302940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Tour Cost</a:t>
            </a:r>
            <a:endParaRPr lang="en-US" sz="900"/>
          </a:p>
        </p:txBody>
      </p:sp>
      <p:pic>
        <p:nvPicPr>
          <p:cNvPr id="67" name="Image 21" descr="preencoded.png"/>
          <p:cNvPicPr>
            <a:picLocks noChangeAspect="1"/>
          </p:cNvPicPr>
          <p:nvPr/>
        </p:nvPicPr>
        <p:blipFill>
          <a:blip r:embed="rId14"/>
          <a:srcRect l="-209" r="-209"/>
          <a:stretch/>
        </p:blipFill>
        <p:spPr>
          <a:xfrm>
            <a:off x="8300549" y="5751953"/>
            <a:ext cx="2754006" cy="68995"/>
          </a:xfrm>
          <a:prstGeom prst="rect">
            <a:avLst/>
          </a:prstGeom>
        </p:spPr>
      </p:pic>
      <p:pic>
        <p:nvPicPr>
          <p:cNvPr id="68" name="Image 22" descr="preencoded.png"/>
          <p:cNvPicPr>
            <a:picLocks noChangeAspect="1"/>
          </p:cNvPicPr>
          <p:nvPr/>
        </p:nvPicPr>
        <p:blipFill>
          <a:blip r:embed="rId15"/>
          <a:srcRect l="-193" r="-193"/>
          <a:stretch/>
        </p:blipFill>
        <p:spPr>
          <a:xfrm>
            <a:off x="8266093" y="5751953"/>
            <a:ext cx="2064882" cy="68995"/>
          </a:xfrm>
          <a:prstGeom prst="rect">
            <a:avLst/>
          </a:prstGeom>
        </p:spPr>
      </p:pic>
      <p:sp>
        <p:nvSpPr>
          <p:cNvPr id="69" name="Text 44"/>
          <p:cNvSpPr txBox="1"/>
          <p:nvPr/>
        </p:nvSpPr>
        <p:spPr>
          <a:xfrm>
            <a:off x="8010144" y="6138911"/>
            <a:ext cx="1406347" cy="18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Top-10 Critical Edges:</a:t>
            </a:r>
            <a:endParaRPr lang="en-US" sz="900"/>
          </a:p>
        </p:txBody>
      </p:sp>
      <p:sp>
        <p:nvSpPr>
          <p:cNvPr id="70" name="Text 45"/>
          <p:cNvSpPr txBox="1"/>
          <p:nvPr/>
        </p:nvSpPr>
        <p:spPr>
          <a:xfrm>
            <a:off x="10462565" y="6138911"/>
            <a:ext cx="1284732" cy="18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5-6.8% increase</a:t>
            </a:r>
            <a:endParaRPr lang="en-US" sz="900"/>
          </a:p>
        </p:txBody>
      </p:sp>
      <p:sp>
        <p:nvSpPr>
          <p:cNvPr id="71" name="Text 46"/>
          <p:cNvSpPr txBox="1"/>
          <p:nvPr/>
        </p:nvSpPr>
        <p:spPr>
          <a:xfrm>
            <a:off x="8010144" y="6413231"/>
            <a:ext cx="1530706" cy="18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Low-Importance Edges:</a:t>
            </a:r>
            <a:endParaRPr lang="en-US" sz="900"/>
          </a:p>
        </p:txBody>
      </p:sp>
      <p:sp>
        <p:nvSpPr>
          <p:cNvPr id="72" name="Text 47"/>
          <p:cNvSpPr txBox="1"/>
          <p:nvPr/>
        </p:nvSpPr>
        <p:spPr>
          <a:xfrm>
            <a:off x="10681106" y="6413231"/>
            <a:ext cx="992124" cy="18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 of total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444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Goals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Motivation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905" y="642823"/>
            <a:ext cx="4924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main objectives for edge importance computation in TSP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609905" y="952805"/>
            <a:ext cx="6400800" cy="2952598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47649" y="1609344"/>
            <a:ext cx="59243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190549"/>
            <a:ext cx="304495" cy="3044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1276502"/>
            <a:ext cx="133502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66444" y="1228954"/>
            <a:ext cx="1213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Goals</a:t>
            </a:r>
            <a:endParaRPr lang="en-US" sz="130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847649" y="1819656"/>
            <a:ext cx="1873606" cy="1796796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76249" y="2009851"/>
            <a:ext cx="1457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/>
          </a:p>
        </p:txBody>
      </p:sp>
      <p:sp>
        <p:nvSpPr>
          <p:cNvPr id="17" name="Text 9"/>
          <p:cNvSpPr txBox="1"/>
          <p:nvPr/>
        </p:nvSpPr>
        <p:spPr>
          <a:xfrm>
            <a:off x="1076249" y="2438705"/>
            <a:ext cx="1143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Ground-Truth Importance</a:t>
            </a:r>
            <a:endParaRPr lang="en-US" sz="1000"/>
          </a:p>
        </p:txBody>
      </p:sp>
      <p:sp>
        <p:nvSpPr>
          <p:cNvPr id="18" name="Text 10"/>
          <p:cNvSpPr txBox="1"/>
          <p:nvPr/>
        </p:nvSpPr>
        <p:spPr>
          <a:xfrm>
            <a:off x="1076249" y="2905049"/>
            <a:ext cx="14575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and compute rigorous metric for edge criticality</a:t>
            </a:r>
            <a:endParaRPr lang="en-US" sz="90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873045" y="1819656"/>
            <a:ext cx="1873606" cy="1796796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3101645" y="2009851"/>
            <a:ext cx="1457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/>
          </a:p>
        </p:txBody>
      </p:sp>
      <p:sp>
        <p:nvSpPr>
          <p:cNvPr id="21" name="Text 12"/>
          <p:cNvSpPr txBox="1"/>
          <p:nvPr/>
        </p:nvSpPr>
        <p:spPr>
          <a:xfrm>
            <a:off x="3101645" y="2438705"/>
            <a:ext cx="10387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Predictor Benchmarking</a:t>
            </a:r>
            <a:endParaRPr lang="en-US" sz="1000"/>
          </a:p>
        </p:txBody>
      </p:sp>
      <p:sp>
        <p:nvSpPr>
          <p:cNvPr id="22" name="Text 13"/>
          <p:cNvSpPr txBox="1"/>
          <p:nvPr/>
        </p:nvSpPr>
        <p:spPr>
          <a:xfrm>
            <a:off x="3101645" y="2905049"/>
            <a:ext cx="14575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benchmark for learning-based predictors</a:t>
            </a:r>
            <a:endParaRPr lang="en-US" sz="90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9355" y="1819656"/>
            <a:ext cx="1873606" cy="1796796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5127955" y="2009851"/>
            <a:ext cx="1457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/>
          </a:p>
        </p:txBody>
      </p:sp>
      <p:sp>
        <p:nvSpPr>
          <p:cNvPr id="25" name="Text 15"/>
          <p:cNvSpPr txBox="1"/>
          <p:nvPr/>
        </p:nvSpPr>
        <p:spPr>
          <a:xfrm>
            <a:off x="5127955" y="2438705"/>
            <a:ext cx="1334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Cost Perturbation Routing</a:t>
            </a:r>
            <a:endParaRPr lang="en-US" sz="1000"/>
          </a:p>
        </p:txBody>
      </p:sp>
      <p:sp>
        <p:nvSpPr>
          <p:cNvPr id="26" name="Text 16"/>
          <p:cNvSpPr txBox="1"/>
          <p:nvPr/>
        </p:nvSpPr>
        <p:spPr>
          <a:xfrm>
            <a:off x="5127955" y="2905049"/>
            <a:ext cx="14575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predicted importance to modify edge costs</a:t>
            </a:r>
            <a:endParaRPr lang="en-US" sz="900"/>
          </a:p>
        </p:txBody>
      </p:sp>
      <p:sp>
        <p:nvSpPr>
          <p:cNvPr id="27" name="Shape 17"/>
          <p:cNvSpPr/>
          <p:nvPr/>
        </p:nvSpPr>
        <p:spPr>
          <a:xfrm>
            <a:off x="609905" y="4095598"/>
            <a:ext cx="6400800" cy="238109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847649" y="4753051"/>
            <a:ext cx="59243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4334256"/>
            <a:ext cx="304495" cy="304495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947318" y="4419295"/>
            <a:ext cx="105156" cy="13350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1266444" y="4371746"/>
            <a:ext cx="1020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Motivation</a:t>
            </a:r>
            <a:endParaRPr lang="en-US" sz="130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847649" y="4897873"/>
            <a:ext cx="5924398" cy="148590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076249" y="5126473"/>
            <a:ext cx="5468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Edge Importance Matters</a:t>
            </a:r>
            <a:endParaRPr lang="en-US" sz="1300"/>
          </a:p>
        </p:txBody>
      </p:sp>
      <p:sp>
        <p:nvSpPr>
          <p:cNvPr id="34" name="Text 21"/>
          <p:cNvSpPr txBox="1"/>
          <p:nvPr/>
        </p:nvSpPr>
        <p:spPr>
          <a:xfrm>
            <a:off x="1076249" y="5469373"/>
            <a:ext cx="5468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FFFFFF">
                    <a:alpha val="9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data-driven optimization systems where machine learning models learn to predict which edges are most critical, allowing for intelligent route modification or graph construction. This is crucial for last-mile delivery efficiency.</a:t>
            </a:r>
            <a:endParaRPr lang="en-US" sz="1100"/>
          </a:p>
        </p:txBody>
      </p:sp>
      <p:sp>
        <p:nvSpPr>
          <p:cNvPr id="35" name="Shape 22"/>
          <p:cNvSpPr/>
          <p:nvPr/>
        </p:nvSpPr>
        <p:spPr>
          <a:xfrm>
            <a:off x="7295998" y="952805"/>
            <a:ext cx="4286707" cy="2952598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3"/>
          <p:cNvSpPr/>
          <p:nvPr/>
        </p:nvSpPr>
        <p:spPr>
          <a:xfrm>
            <a:off x="7534656" y="1609344"/>
            <a:ext cx="38103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656" y="1190549"/>
            <a:ext cx="304495" cy="304495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19695" y="1276502"/>
            <a:ext cx="133502" cy="133502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7953451" y="1228954"/>
            <a:ext cx="1270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Status</a:t>
            </a:r>
            <a:endParaRPr lang="en-US" sz="130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1"/>
          <a:srcRect l="-14" r="-14"/>
          <a:stretch/>
        </p:blipFill>
        <p:spPr>
          <a:xfrm>
            <a:off x="7534656" y="1819656"/>
            <a:ext cx="3810305" cy="1837944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7684435" y="2078585"/>
            <a:ext cx="2283569" cy="160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1A1A2E"/>
                </a:solidFill>
                <a:latin typeface="Segoe UI"/>
                <a:cs typeface="Segoe UI"/>
              </a:rPr>
              <a:t>Breakdown of goals</a:t>
            </a:r>
            <a:endParaRPr lang="en-US"/>
          </a:p>
        </p:txBody>
      </p:sp>
      <p:sp>
        <p:nvSpPr>
          <p:cNvPr id="45" name="Shape 27"/>
          <p:cNvSpPr/>
          <p:nvPr/>
        </p:nvSpPr>
        <p:spPr>
          <a:xfrm>
            <a:off x="7724851" y="2671877"/>
            <a:ext cx="75895" cy="75895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28"/>
          <p:cNvSpPr txBox="1"/>
          <p:nvPr/>
        </p:nvSpPr>
        <p:spPr>
          <a:xfrm>
            <a:off x="7895844" y="2619756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Eval-1 Framework</a:t>
            </a:r>
            <a:endParaRPr lang="en-US" sz="1000"/>
          </a:p>
        </p:txBody>
      </p:sp>
      <p:sp>
        <p:nvSpPr>
          <p:cNvPr id="47" name="Shape 29"/>
          <p:cNvSpPr/>
          <p:nvPr/>
        </p:nvSpPr>
        <p:spPr>
          <a:xfrm>
            <a:off x="9515246" y="2671877"/>
            <a:ext cx="75895" cy="75895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0"/>
          <p:cNvSpPr txBox="1"/>
          <p:nvPr/>
        </p:nvSpPr>
        <p:spPr>
          <a:xfrm>
            <a:off x="9687154" y="2619756"/>
            <a:ext cx="16212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Predictor Development</a:t>
            </a:r>
            <a:endParaRPr lang="en-US" sz="1000"/>
          </a:p>
        </p:txBody>
      </p:sp>
      <p:sp>
        <p:nvSpPr>
          <p:cNvPr id="49" name="Shape 31"/>
          <p:cNvSpPr/>
          <p:nvPr/>
        </p:nvSpPr>
        <p:spPr>
          <a:xfrm>
            <a:off x="7724851" y="3004718"/>
            <a:ext cx="75895" cy="75895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2"/>
          <p:cNvSpPr txBox="1"/>
          <p:nvPr/>
        </p:nvSpPr>
        <p:spPr>
          <a:xfrm>
            <a:off x="7895844" y="2952598"/>
            <a:ext cx="169346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Integration</a:t>
            </a:r>
            <a:endParaRPr lang="en-US" sz="1000"/>
          </a:p>
        </p:txBody>
      </p:sp>
      <p:sp>
        <p:nvSpPr>
          <p:cNvPr id="51" name="Shape 33"/>
          <p:cNvSpPr/>
          <p:nvPr/>
        </p:nvSpPr>
        <p:spPr>
          <a:xfrm>
            <a:off x="9515246" y="3004718"/>
            <a:ext cx="75895" cy="75895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4"/>
          <p:cNvSpPr txBox="1"/>
          <p:nvPr/>
        </p:nvSpPr>
        <p:spPr>
          <a:xfrm>
            <a:off x="9687154" y="2952598"/>
            <a:ext cx="160202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44444"/>
                </a:solidFill>
                <a:latin typeface="Segoe UI"/>
                <a:ea typeface="Segoe UI" pitchFamily="34" charset="-122"/>
                <a:cs typeface="Segoe UI"/>
              </a:rPr>
              <a:t>Evaluation using various Metrices</a:t>
            </a:r>
            <a:endParaRPr lang="en-US" sz="1000"/>
          </a:p>
        </p:txBody>
      </p:sp>
      <p:sp>
        <p:nvSpPr>
          <p:cNvPr id="53" name="Shape 35"/>
          <p:cNvSpPr/>
          <p:nvPr/>
        </p:nvSpPr>
        <p:spPr>
          <a:xfrm>
            <a:off x="7724851" y="3338474"/>
            <a:ext cx="75895" cy="75895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6"/>
          <p:cNvSpPr txBox="1"/>
          <p:nvPr/>
        </p:nvSpPr>
        <p:spPr>
          <a:xfrm>
            <a:off x="7895844" y="3286354"/>
            <a:ext cx="16075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&amp; Learning</a:t>
            </a:r>
            <a:endParaRPr lang="en-US" sz="1000"/>
          </a:p>
        </p:txBody>
      </p:sp>
      <p:sp>
        <p:nvSpPr>
          <p:cNvPr id="55" name="Shape 37"/>
          <p:cNvSpPr/>
          <p:nvPr/>
        </p:nvSpPr>
        <p:spPr>
          <a:xfrm>
            <a:off x="9515246" y="3338474"/>
            <a:ext cx="75895" cy="75895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38"/>
          <p:cNvSpPr txBox="1"/>
          <p:nvPr/>
        </p:nvSpPr>
        <p:spPr>
          <a:xfrm>
            <a:off x="9687154" y="3286354"/>
            <a:ext cx="16276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Time-Dependent TSP</a:t>
            </a:r>
            <a:endParaRPr lang="en-US" sz="1000"/>
          </a:p>
        </p:txBody>
      </p:sp>
      <p:sp>
        <p:nvSpPr>
          <p:cNvPr id="57" name="Shape 39"/>
          <p:cNvSpPr/>
          <p:nvPr/>
        </p:nvSpPr>
        <p:spPr>
          <a:xfrm>
            <a:off x="7295998" y="4095598"/>
            <a:ext cx="4286707" cy="238109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40"/>
          <p:cNvSpPr/>
          <p:nvPr/>
        </p:nvSpPr>
        <p:spPr>
          <a:xfrm>
            <a:off x="7534656" y="4753051"/>
            <a:ext cx="38103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656" y="4334256"/>
            <a:ext cx="304495" cy="304495"/>
          </a:xfrm>
          <a:prstGeom prst="rect">
            <a:avLst/>
          </a:prstGeom>
        </p:spPr>
      </p:pic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19695" y="4419295"/>
            <a:ext cx="133502" cy="133502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7953451" y="4371746"/>
            <a:ext cx="1553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Progress</a:t>
            </a:r>
            <a:endParaRPr lang="en-US" sz="1300"/>
          </a:p>
        </p:txBody>
      </p:sp>
      <p:sp>
        <p:nvSpPr>
          <p:cNvPr id="62" name="Shape 42"/>
          <p:cNvSpPr/>
          <p:nvPr/>
        </p:nvSpPr>
        <p:spPr>
          <a:xfrm>
            <a:off x="7534656" y="4981651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7595921" y="5038344"/>
            <a:ext cx="105156" cy="114300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7877556" y="4962449"/>
            <a:ext cx="4036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Ground-truth edge importance</a:t>
            </a:r>
            <a:r>
              <a:rPr lang="en-US" sz="11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computed via Eval-1</a:t>
            </a:r>
            <a:endParaRPr lang="en-US" sz="1100"/>
          </a:p>
        </p:txBody>
      </p:sp>
      <p:sp>
        <p:nvSpPr>
          <p:cNvPr id="65" name="Shape 44"/>
          <p:cNvSpPr/>
          <p:nvPr/>
        </p:nvSpPr>
        <p:spPr>
          <a:xfrm>
            <a:off x="7534656" y="5419649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19" descr="preencoded.png"/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7595921" y="5477256"/>
            <a:ext cx="105156" cy="114300"/>
          </a:xfrm>
          <a:prstGeom prst="rect">
            <a:avLst/>
          </a:prstGeom>
        </p:spPr>
      </p:pic>
      <p:sp>
        <p:nvSpPr>
          <p:cNvPr id="67" name="Text 45"/>
          <p:cNvSpPr txBox="1"/>
          <p:nvPr/>
        </p:nvSpPr>
        <p:spPr>
          <a:xfrm>
            <a:off x="7877556" y="5400446"/>
            <a:ext cx="32086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119-node instance</a:t>
            </a:r>
            <a:r>
              <a:rPr lang="en-US" sz="11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successfully processed</a:t>
            </a:r>
            <a:endParaRPr lang="en-US" sz="1100"/>
          </a:p>
        </p:txBody>
      </p:sp>
      <p:sp>
        <p:nvSpPr>
          <p:cNvPr id="68" name="Shape 46"/>
          <p:cNvSpPr/>
          <p:nvPr/>
        </p:nvSpPr>
        <p:spPr>
          <a:xfrm>
            <a:off x="7534656" y="58576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7595921" y="5915254"/>
            <a:ext cx="105156" cy="114300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7877556" y="583844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3-5 minutes</a:t>
            </a:r>
            <a:r>
              <a:rPr lang="en-US" sz="11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total runtime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76315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Importance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Definition (Eval-1)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905" y="673913"/>
            <a:ext cx="64867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formulation for quantifying edge criticality in TSP tours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609905" y="1139842"/>
            <a:ext cx="10972800" cy="3740727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285646"/>
            <a:ext cx="10496398" cy="276788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95451" y="1533449"/>
            <a:ext cx="100017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</a:t>
            </a:r>
            <a:r>
              <a:rPr lang="en-US" sz="2200" b="1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2700" b="1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(C(G \ e) − C(G)) / C(G)</a:t>
            </a:r>
            <a:endParaRPr lang="en-US" sz="2700"/>
          </a:p>
        </p:txBody>
      </p:sp>
      <p:sp>
        <p:nvSpPr>
          <p:cNvPr id="13" name="Shape 7"/>
          <p:cNvSpPr/>
          <p:nvPr/>
        </p:nvSpPr>
        <p:spPr>
          <a:xfrm>
            <a:off x="1463040" y="2145182"/>
            <a:ext cx="4028846" cy="724205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624889" y="2268626"/>
            <a:ext cx="37060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500"/>
          </a:p>
        </p:txBody>
      </p:sp>
      <p:sp>
        <p:nvSpPr>
          <p:cNvPr id="15" name="Text 9"/>
          <p:cNvSpPr txBox="1"/>
          <p:nvPr/>
        </p:nvSpPr>
        <p:spPr>
          <a:xfrm>
            <a:off x="1290218" y="2563978"/>
            <a:ext cx="43754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graph with edge weights corresponding to travel distances</a:t>
            </a:r>
            <a:endParaRPr lang="en-US" sz="900"/>
          </a:p>
        </p:txBody>
      </p:sp>
      <p:sp>
        <p:nvSpPr>
          <p:cNvPr id="16" name="Shape 10"/>
          <p:cNvSpPr/>
          <p:nvPr/>
        </p:nvSpPr>
        <p:spPr>
          <a:xfrm>
            <a:off x="5719572" y="2145182"/>
            <a:ext cx="2314346" cy="724205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881421" y="2268626"/>
            <a:ext cx="19915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500"/>
          </a:p>
        </p:txBody>
      </p:sp>
      <p:sp>
        <p:nvSpPr>
          <p:cNvPr id="18" name="Text 12"/>
          <p:cNvSpPr txBox="1"/>
          <p:nvPr/>
        </p:nvSpPr>
        <p:spPr>
          <a:xfrm>
            <a:off x="5692140" y="2563978"/>
            <a:ext cx="23692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edge in the base optimal tour</a:t>
            </a:r>
            <a:endParaRPr lang="en-US" sz="900"/>
          </a:p>
        </p:txBody>
      </p:sp>
      <p:sp>
        <p:nvSpPr>
          <p:cNvPr id="19" name="Shape 13"/>
          <p:cNvSpPr/>
          <p:nvPr/>
        </p:nvSpPr>
        <p:spPr>
          <a:xfrm>
            <a:off x="8258861" y="2145182"/>
            <a:ext cx="2476195" cy="724205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420710" y="2268626"/>
            <a:ext cx="2153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C(G)</a:t>
            </a:r>
            <a:endParaRPr lang="en-US" sz="1500"/>
          </a:p>
        </p:txBody>
      </p:sp>
      <p:sp>
        <p:nvSpPr>
          <p:cNvPr id="21" name="Text 15"/>
          <p:cNvSpPr txBox="1"/>
          <p:nvPr/>
        </p:nvSpPr>
        <p:spPr>
          <a:xfrm>
            <a:off x="8216798" y="2563978"/>
            <a:ext cx="256214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Optimal tour cost on the original graph</a:t>
            </a:r>
            <a:endParaRPr lang="en-US" sz="900"/>
          </a:p>
        </p:txBody>
      </p:sp>
      <p:sp>
        <p:nvSpPr>
          <p:cNvPr id="22" name="Shape 16"/>
          <p:cNvSpPr/>
          <p:nvPr/>
        </p:nvSpPr>
        <p:spPr>
          <a:xfrm>
            <a:off x="4360774" y="3089758"/>
            <a:ext cx="3476549" cy="724205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522622" y="3213202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C(G \ e)</a:t>
            </a:r>
            <a:endParaRPr lang="en-US" sz="1500"/>
          </a:p>
        </p:txBody>
      </p:sp>
      <p:sp>
        <p:nvSpPr>
          <p:cNvPr id="24" name="Text 18"/>
          <p:cNvSpPr txBox="1"/>
          <p:nvPr/>
        </p:nvSpPr>
        <p:spPr>
          <a:xfrm>
            <a:off x="4229100" y="3508553"/>
            <a:ext cx="3740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Optimal tour cost when edge e is removed (large penalty)</a:t>
            </a:r>
            <a:endParaRPr lang="en-US" sz="9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847649" y="4167835"/>
            <a:ext cx="10496398" cy="659282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 t="-13478" b="-13478"/>
          <a:stretch/>
        </p:blipFill>
        <p:spPr>
          <a:xfrm>
            <a:off x="972007" y="4325112"/>
            <a:ext cx="105156" cy="1335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41502" y="4292194"/>
            <a:ext cx="15663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 Note</a:t>
            </a:r>
            <a:endParaRPr lang="en-US" sz="1200"/>
          </a:p>
        </p:txBody>
      </p:sp>
      <p:sp>
        <p:nvSpPr>
          <p:cNvPr id="28" name="Text 20"/>
          <p:cNvSpPr txBox="1"/>
          <p:nvPr/>
        </p:nvSpPr>
        <p:spPr>
          <a:xfrm>
            <a:off x="629107" y="4529938"/>
            <a:ext cx="10935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simulate removal by setting w(e) = M = α · max(c) (large penalty), preserving graph connectivity and avoiding numerical instabilities in the solver.</a:t>
            </a:r>
            <a:endParaRPr lang="en-US" sz="900"/>
          </a:p>
        </p:txBody>
      </p:sp>
      <p:sp>
        <p:nvSpPr>
          <p:cNvPr id="29" name="Shape 21"/>
          <p:cNvSpPr/>
          <p:nvPr/>
        </p:nvSpPr>
        <p:spPr>
          <a:xfrm>
            <a:off x="609905" y="5131860"/>
            <a:ext cx="5372100" cy="1611006"/>
          </a:xfrm>
          <a:prstGeom prst="roundRect">
            <a:avLst>
              <a:gd name="adj" fmla="val 665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3084" y="5265404"/>
            <a:ext cx="276814" cy="276814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rcRect t="-13478" b="-13478"/>
          <a:stretch/>
        </p:blipFill>
        <p:spPr>
          <a:xfrm>
            <a:off x="914608" y="5343587"/>
            <a:ext cx="95597" cy="12136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228954" y="5300360"/>
            <a:ext cx="129296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</a:t>
            </a:r>
            <a:endParaRPr lang="en-US" sz="1300"/>
          </a:p>
        </p:txBody>
      </p:sp>
      <p:sp>
        <p:nvSpPr>
          <p:cNvPr id="33" name="Text 23"/>
          <p:cNvSpPr txBox="1"/>
          <p:nvPr/>
        </p:nvSpPr>
        <p:spPr>
          <a:xfrm>
            <a:off x="809244" y="5681207"/>
            <a:ext cx="5235854" cy="216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I</a:t>
            </a:r>
            <a:r>
              <a:rPr lang="en-US" sz="8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Edge is more critical to maintaining tour optimality</a:t>
            </a:r>
            <a:endParaRPr lang="en-US" sz="1000"/>
          </a:p>
        </p:txBody>
      </p:sp>
      <p:sp>
        <p:nvSpPr>
          <p:cNvPr id="34" name="Text 24"/>
          <p:cNvSpPr txBox="1"/>
          <p:nvPr/>
        </p:nvSpPr>
        <p:spPr>
          <a:xfrm>
            <a:off x="809244" y="6043309"/>
            <a:ext cx="4972507" cy="54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Edges with high importance are those for which suitable alternatives are limited. The metric measures the relative increase in tour cost when an edge is removed or heavily penalized.</a:t>
            </a:r>
            <a:endParaRPr lang="en-US" sz="1000"/>
          </a:p>
        </p:txBody>
      </p:sp>
      <p:sp>
        <p:nvSpPr>
          <p:cNvPr id="35" name="Shape 25"/>
          <p:cNvSpPr/>
          <p:nvPr/>
        </p:nvSpPr>
        <p:spPr>
          <a:xfrm>
            <a:off x="6210605" y="5131860"/>
            <a:ext cx="5372100" cy="1611006"/>
          </a:xfrm>
          <a:prstGeom prst="roundRect">
            <a:avLst>
              <a:gd name="adj" fmla="val 665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23784" y="5265404"/>
            <a:ext cx="276814" cy="276814"/>
          </a:xfrm>
          <a:prstGeom prst="rect">
            <a:avLst/>
          </a:prstGeom>
        </p:spPr>
      </p:pic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6515308" y="5343587"/>
            <a:ext cx="95597" cy="12136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829654" y="5300360"/>
            <a:ext cx="134965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Properties</a:t>
            </a:r>
            <a:endParaRPr lang="en-US" sz="1300"/>
          </a:p>
        </p:txBody>
      </p:sp>
      <p:sp>
        <p:nvSpPr>
          <p:cNvPr id="39" name="Text 27"/>
          <p:cNvSpPr txBox="1"/>
          <p:nvPr/>
        </p:nvSpPr>
        <p:spPr>
          <a:xfrm>
            <a:off x="6714439" y="5679919"/>
            <a:ext cx="5075834" cy="19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Importance is computed only for edges in the base optimal tour</a:t>
            </a:r>
            <a:endParaRPr lang="en-US" sz="1000"/>
          </a:p>
        </p:txBody>
      </p:sp>
      <p:sp>
        <p:nvSpPr>
          <p:cNvPr id="40" name="Shape 28"/>
          <p:cNvSpPr/>
          <p:nvPr/>
        </p:nvSpPr>
        <p:spPr>
          <a:xfrm>
            <a:off x="6409944" y="5698207"/>
            <a:ext cx="190195" cy="1729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0"/>
          <a:srcRect t="-4819" b="-4819"/>
          <a:stretch/>
        </p:blipFill>
        <p:spPr>
          <a:xfrm>
            <a:off x="6471001" y="5741433"/>
            <a:ext cx="68995" cy="86453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6714439" y="5985329"/>
            <a:ext cx="4668012" cy="19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 range from 0 (easily replaceable) to 1+ (critical)</a:t>
            </a:r>
            <a:endParaRPr lang="en-US" sz="1000"/>
          </a:p>
        </p:txBody>
      </p:sp>
      <p:sp>
        <p:nvSpPr>
          <p:cNvPr id="43" name="Shape 30"/>
          <p:cNvSpPr/>
          <p:nvPr/>
        </p:nvSpPr>
        <p:spPr>
          <a:xfrm>
            <a:off x="6409944" y="6002702"/>
            <a:ext cx="190195" cy="1729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0"/>
          <a:srcRect t="-4819" b="-4819"/>
          <a:stretch/>
        </p:blipFill>
        <p:spPr>
          <a:xfrm>
            <a:off x="6471001" y="6046843"/>
            <a:ext cx="68995" cy="86453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6714439" y="6289824"/>
            <a:ext cx="5075834" cy="19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Top-10 critical edges show 5-6.8% cost increase when perturbed</a:t>
            </a:r>
            <a:endParaRPr lang="en-US" sz="1000"/>
          </a:p>
        </p:txBody>
      </p:sp>
      <p:sp>
        <p:nvSpPr>
          <p:cNvPr id="46" name="Shape 32"/>
          <p:cNvSpPr/>
          <p:nvPr/>
        </p:nvSpPr>
        <p:spPr>
          <a:xfrm>
            <a:off x="6409944" y="6308111"/>
            <a:ext cx="190195" cy="1729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0"/>
          <a:srcRect t="-4819" b="-4819"/>
          <a:stretch/>
        </p:blipFill>
        <p:spPr>
          <a:xfrm>
            <a:off x="6471001" y="6351338"/>
            <a:ext cx="68995" cy="864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7419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Computational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Framework (Pipeline)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5953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5-step pipeline for computing edge importance in TSP solutions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609905" y="1080822"/>
            <a:ext cx="10972800" cy="392718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47649" y="1609344"/>
            <a:ext cx="104963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190549"/>
            <a:ext cx="304495" cy="3044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t="-21413" b="-21413"/>
          <a:stretch/>
        </p:blipFill>
        <p:spPr>
          <a:xfrm>
            <a:off x="947318" y="1276502"/>
            <a:ext cx="105156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66444" y="122895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 Pipeline</a:t>
            </a:r>
            <a:endParaRPr lang="en-US" sz="130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 t="-9" b="-9"/>
          <a:stretch/>
        </p:blipFill>
        <p:spPr>
          <a:xfrm>
            <a:off x="847649" y="1819656"/>
            <a:ext cx="1588313" cy="3138221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1037844" y="17428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1037844" y="174284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/>
          </a:p>
        </p:txBody>
      </p:sp>
      <p:sp>
        <p:nvSpPr>
          <p:cNvPr id="18" name="Text 10"/>
          <p:cNvSpPr txBox="1"/>
          <p:nvPr/>
        </p:nvSpPr>
        <p:spPr>
          <a:xfrm>
            <a:off x="1076249" y="2085746"/>
            <a:ext cx="11722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Construction</a:t>
            </a:r>
            <a:endParaRPr lang="en-US" sz="1100"/>
          </a:p>
        </p:txBody>
      </p:sp>
      <p:sp>
        <p:nvSpPr>
          <p:cNvPr id="19" name="Text 11"/>
          <p:cNvSpPr txBox="1"/>
          <p:nvPr/>
        </p:nvSpPr>
        <p:spPr>
          <a:xfrm>
            <a:off x="1076249" y="2542946"/>
            <a:ext cx="1172261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sparse K-nearest neighbors graph (K=4) from delivery locations to ensure connectivity while reducing problem size.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76249" y="3957523"/>
            <a:ext cx="1171346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1076249" y="4157777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1123798" y="4196182"/>
            <a:ext cx="57607" cy="7589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304849" y="4081882"/>
            <a:ext cx="9436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K=4 for sparsification</a:t>
            </a:r>
            <a:endParaRPr lang="en-US" sz="900"/>
          </a:p>
        </p:txBody>
      </p:sp>
      <p:sp>
        <p:nvSpPr>
          <p:cNvPr id="24" name="Shape 15"/>
          <p:cNvSpPr/>
          <p:nvPr/>
        </p:nvSpPr>
        <p:spPr>
          <a:xfrm>
            <a:off x="1076249" y="4500677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1123798" y="4539082"/>
            <a:ext cx="57607" cy="7589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304849" y="4424782"/>
            <a:ext cx="9436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 nodes processed</a:t>
            </a:r>
            <a:endParaRPr lang="en-US" sz="90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rcRect t="-5240" b="-5240"/>
          <a:stretch/>
        </p:blipFill>
        <p:spPr>
          <a:xfrm>
            <a:off x="2665476" y="3274466"/>
            <a:ext cx="181051" cy="228600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rcRect l="-15" r="-15"/>
          <a:stretch/>
        </p:blipFill>
        <p:spPr>
          <a:xfrm>
            <a:off x="3074213" y="1819656"/>
            <a:ext cx="1589227" cy="3138221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3265322" y="17428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3265322" y="174284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/>
          </a:p>
        </p:txBody>
      </p:sp>
      <p:sp>
        <p:nvSpPr>
          <p:cNvPr id="31" name="Text 19"/>
          <p:cNvSpPr txBox="1"/>
          <p:nvPr/>
        </p:nvSpPr>
        <p:spPr>
          <a:xfrm>
            <a:off x="3302813" y="2085746"/>
            <a:ext cx="13944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/>
                <a:ea typeface="Segoe UI" pitchFamily="34" charset="-122"/>
                <a:cs typeface="Segoe UI"/>
              </a:rPr>
              <a:t>Base Route</a:t>
            </a:r>
            <a:endParaRPr lang="en-US" sz="1100"/>
          </a:p>
        </p:txBody>
      </p:sp>
      <p:sp>
        <p:nvSpPr>
          <p:cNvPr id="32" name="Text 20"/>
          <p:cNvSpPr txBox="1"/>
          <p:nvPr/>
        </p:nvSpPr>
        <p:spPr>
          <a:xfrm>
            <a:off x="3302813" y="2352751"/>
            <a:ext cx="1172261" cy="1800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666666"/>
                </a:solidFill>
                <a:latin typeface="Segoe UI"/>
                <a:cs typeface="Segoe UI"/>
              </a:rPr>
              <a:t>Original route </a:t>
            </a:r>
            <a:r>
              <a:rPr lang="en-US" sz="900" err="1">
                <a:solidFill>
                  <a:srgbClr val="666666"/>
                </a:solidFill>
                <a:latin typeface="Segoe UI"/>
                <a:cs typeface="Segoe UI"/>
              </a:rPr>
              <a:t>Rbase</a:t>
            </a:r>
            <a:r>
              <a:rPr lang="en-US" sz="900">
                <a:solidFill>
                  <a:srgbClr val="666666"/>
                </a:solidFill>
                <a:latin typeface="Segoe UI"/>
                <a:cs typeface="Segoe UI"/>
              </a:rPr>
              <a:t> given in the ALMRC dataset</a:t>
            </a:r>
          </a:p>
        </p:txBody>
      </p:sp>
      <p:sp>
        <p:nvSpPr>
          <p:cNvPr id="33" name="Shape 21"/>
          <p:cNvSpPr/>
          <p:nvPr/>
        </p:nvSpPr>
        <p:spPr>
          <a:xfrm>
            <a:off x="3302813" y="4262018"/>
            <a:ext cx="1171346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3302813" y="4386377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3351276" y="4424782"/>
            <a:ext cx="57607" cy="7589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531413" y="4386377"/>
            <a:ext cx="9930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Cost: 8088.40</a:t>
            </a:r>
            <a:endParaRPr lang="en-US" sz="900"/>
          </a:p>
        </p:txBody>
      </p:sp>
      <p:sp>
        <p:nvSpPr>
          <p:cNvPr id="37" name="Shape 24"/>
          <p:cNvSpPr/>
          <p:nvPr/>
        </p:nvSpPr>
        <p:spPr>
          <a:xfrm>
            <a:off x="3302813" y="457657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3351276" y="4614977"/>
            <a:ext cx="57607" cy="75895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3531413" y="4576572"/>
            <a:ext cx="12993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 edges in tour</a:t>
            </a:r>
            <a:endParaRPr lang="en-US" sz="90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8"/>
          <a:srcRect t="-5240" b="-5240"/>
          <a:stretch/>
        </p:blipFill>
        <p:spPr>
          <a:xfrm>
            <a:off x="4892040" y="3274466"/>
            <a:ext cx="181051" cy="228600"/>
          </a:xfrm>
          <a:prstGeom prst="rect">
            <a:avLst/>
          </a:prstGeom>
        </p:spPr>
      </p:pic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6"/>
          <a:srcRect t="-9" b="-9"/>
          <a:stretch/>
        </p:blipFill>
        <p:spPr>
          <a:xfrm>
            <a:off x="5301691" y="1819656"/>
            <a:ext cx="1588313" cy="3138221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5491886" y="17428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7"/>
          <p:cNvSpPr/>
          <p:nvPr/>
        </p:nvSpPr>
        <p:spPr>
          <a:xfrm>
            <a:off x="5491886" y="174284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/>
          </a:p>
        </p:txBody>
      </p:sp>
      <p:sp>
        <p:nvSpPr>
          <p:cNvPr id="44" name="Text 28"/>
          <p:cNvSpPr txBox="1"/>
          <p:nvPr/>
        </p:nvSpPr>
        <p:spPr>
          <a:xfrm>
            <a:off x="5530291" y="2085746"/>
            <a:ext cx="11722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Edge Perturbation</a:t>
            </a:r>
            <a:endParaRPr lang="en-US" sz="1100"/>
          </a:p>
        </p:txBody>
      </p:sp>
      <p:sp>
        <p:nvSpPr>
          <p:cNvPr id="45" name="Text 29"/>
          <p:cNvSpPr txBox="1"/>
          <p:nvPr/>
        </p:nvSpPr>
        <p:spPr>
          <a:xfrm>
            <a:off x="5530291" y="2542946"/>
            <a:ext cx="1172261" cy="1610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edge in Rbase, create perturbed graph by setting edge weight to large penalty M.</a:t>
            </a:r>
            <a:endParaRPr lang="en-US" sz="900"/>
          </a:p>
        </p:txBody>
      </p:sp>
      <p:sp>
        <p:nvSpPr>
          <p:cNvPr id="46" name="Shape 30"/>
          <p:cNvSpPr/>
          <p:nvPr/>
        </p:nvSpPr>
        <p:spPr>
          <a:xfrm>
            <a:off x="5530291" y="4262018"/>
            <a:ext cx="1171346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47" name="Shape 31"/>
          <p:cNvSpPr/>
          <p:nvPr/>
        </p:nvSpPr>
        <p:spPr>
          <a:xfrm>
            <a:off x="5530291" y="4386377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5577840" y="4424782"/>
            <a:ext cx="57607" cy="75895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5758891" y="4386377"/>
            <a:ext cx="13734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Penalty: 7× max(c)</a:t>
            </a:r>
            <a:endParaRPr lang="en-US" sz="900"/>
          </a:p>
        </p:txBody>
      </p:sp>
      <p:sp>
        <p:nvSpPr>
          <p:cNvPr id="50" name="Shape 33"/>
          <p:cNvSpPr/>
          <p:nvPr/>
        </p:nvSpPr>
        <p:spPr>
          <a:xfrm>
            <a:off x="5530291" y="457657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5577840" y="4614977"/>
            <a:ext cx="57607" cy="75895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5758891" y="4576572"/>
            <a:ext cx="1443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processing</a:t>
            </a:r>
            <a:endParaRPr lang="en-US" sz="900"/>
          </a:p>
        </p:txBody>
      </p:sp>
      <p:pic>
        <p:nvPicPr>
          <p:cNvPr id="53" name="Image 16" descr="preencoded.png"/>
          <p:cNvPicPr>
            <a:picLocks noChangeAspect="1"/>
          </p:cNvPicPr>
          <p:nvPr/>
        </p:nvPicPr>
        <p:blipFill>
          <a:blip r:embed="rId8"/>
          <a:srcRect t="-5240" b="-5240"/>
          <a:stretch/>
        </p:blipFill>
        <p:spPr>
          <a:xfrm>
            <a:off x="7118604" y="3274466"/>
            <a:ext cx="181051" cy="228600"/>
          </a:xfrm>
          <a:prstGeom prst="rect">
            <a:avLst/>
          </a:prstGeom>
        </p:spPr>
      </p:pic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6"/>
          <a:srcRect t="-9" b="-9"/>
          <a:stretch/>
        </p:blipFill>
        <p:spPr>
          <a:xfrm>
            <a:off x="7528255" y="1819656"/>
            <a:ext cx="1588313" cy="3138221"/>
          </a:xfrm>
          <a:prstGeom prst="rect">
            <a:avLst/>
          </a:prstGeom>
        </p:spPr>
      </p:pic>
      <p:sp>
        <p:nvSpPr>
          <p:cNvPr id="55" name="Shape 35"/>
          <p:cNvSpPr/>
          <p:nvPr/>
        </p:nvSpPr>
        <p:spPr>
          <a:xfrm>
            <a:off x="7719365" y="17428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36"/>
          <p:cNvSpPr/>
          <p:nvPr/>
        </p:nvSpPr>
        <p:spPr>
          <a:xfrm>
            <a:off x="7719365" y="174284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/>
          </a:p>
        </p:txBody>
      </p:sp>
      <p:sp>
        <p:nvSpPr>
          <p:cNvPr id="57" name="Text 37"/>
          <p:cNvSpPr txBox="1"/>
          <p:nvPr/>
        </p:nvSpPr>
        <p:spPr>
          <a:xfrm>
            <a:off x="7756855" y="2085746"/>
            <a:ext cx="11722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Importance Computation</a:t>
            </a:r>
            <a:endParaRPr lang="en-US" sz="1100"/>
          </a:p>
        </p:txBody>
      </p:sp>
      <p:sp>
        <p:nvSpPr>
          <p:cNvPr id="58" name="Text 38"/>
          <p:cNvSpPr txBox="1"/>
          <p:nvPr/>
        </p:nvSpPr>
        <p:spPr>
          <a:xfrm>
            <a:off x="7756855" y="2542946"/>
            <a:ext cx="1172261" cy="14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edge importance using Ie = (Cperturbed − C(G)) / C(G).</a:t>
            </a:r>
            <a:endParaRPr lang="en-US" sz="900"/>
          </a:p>
        </p:txBody>
      </p:sp>
      <p:sp>
        <p:nvSpPr>
          <p:cNvPr id="59" name="Shape 39"/>
          <p:cNvSpPr/>
          <p:nvPr/>
        </p:nvSpPr>
        <p:spPr>
          <a:xfrm>
            <a:off x="7756855" y="4110228"/>
            <a:ext cx="1171346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60" name="Shape 40"/>
          <p:cNvSpPr/>
          <p:nvPr/>
        </p:nvSpPr>
        <p:spPr>
          <a:xfrm>
            <a:off x="7756855" y="431048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7804404" y="4347972"/>
            <a:ext cx="57607" cy="75895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7985455" y="4233672"/>
            <a:ext cx="9436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Relative cost increase</a:t>
            </a:r>
            <a:endParaRPr lang="en-US" sz="900"/>
          </a:p>
        </p:txBody>
      </p:sp>
      <p:sp>
        <p:nvSpPr>
          <p:cNvPr id="63" name="Shape 42"/>
          <p:cNvSpPr/>
          <p:nvPr/>
        </p:nvSpPr>
        <p:spPr>
          <a:xfrm>
            <a:off x="7756855" y="457657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19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7804404" y="4614977"/>
            <a:ext cx="57607" cy="75895"/>
          </a:xfrm>
          <a:prstGeom prst="rect">
            <a:avLst/>
          </a:prstGeom>
        </p:spPr>
      </p:pic>
      <p:sp>
        <p:nvSpPr>
          <p:cNvPr id="65" name="Text 43"/>
          <p:cNvSpPr txBox="1"/>
          <p:nvPr/>
        </p:nvSpPr>
        <p:spPr>
          <a:xfrm>
            <a:off x="7985455" y="4576572"/>
            <a:ext cx="13706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serialization</a:t>
            </a:r>
            <a:endParaRPr lang="en-US" sz="900"/>
          </a:p>
        </p:txBody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8"/>
          <a:srcRect t="-5240" b="-5240"/>
          <a:stretch/>
        </p:blipFill>
        <p:spPr>
          <a:xfrm>
            <a:off x="9346082" y="3274466"/>
            <a:ext cx="181051" cy="228600"/>
          </a:xfrm>
          <a:prstGeom prst="rect">
            <a:avLst/>
          </a:prstGeom>
        </p:spPr>
      </p:pic>
      <p:pic>
        <p:nvPicPr>
          <p:cNvPr id="67" name="Image 21" descr="preencoded.png"/>
          <p:cNvPicPr>
            <a:picLocks noChangeAspect="1"/>
          </p:cNvPicPr>
          <p:nvPr/>
        </p:nvPicPr>
        <p:blipFill>
          <a:blip r:embed="rId6"/>
          <a:srcRect t="-9" b="-9"/>
          <a:stretch/>
        </p:blipFill>
        <p:spPr>
          <a:xfrm>
            <a:off x="9755734" y="1819656"/>
            <a:ext cx="1588313" cy="3138221"/>
          </a:xfrm>
          <a:prstGeom prst="rect">
            <a:avLst/>
          </a:prstGeom>
        </p:spPr>
      </p:pic>
      <p:sp>
        <p:nvSpPr>
          <p:cNvPr id="68" name="Shape 44"/>
          <p:cNvSpPr/>
          <p:nvPr/>
        </p:nvSpPr>
        <p:spPr>
          <a:xfrm>
            <a:off x="9945929" y="17428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45"/>
          <p:cNvSpPr/>
          <p:nvPr/>
        </p:nvSpPr>
        <p:spPr>
          <a:xfrm>
            <a:off x="9945929" y="174284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/>
          </a:p>
        </p:txBody>
      </p:sp>
      <p:sp>
        <p:nvSpPr>
          <p:cNvPr id="70" name="Text 46"/>
          <p:cNvSpPr txBox="1"/>
          <p:nvPr/>
        </p:nvSpPr>
        <p:spPr>
          <a:xfrm>
            <a:off x="9984334" y="2085746"/>
            <a:ext cx="13944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Modification</a:t>
            </a:r>
            <a:endParaRPr lang="en-US" sz="1100"/>
          </a:p>
        </p:txBody>
      </p:sp>
      <p:sp>
        <p:nvSpPr>
          <p:cNvPr id="71" name="Text 47"/>
          <p:cNvSpPr txBox="1"/>
          <p:nvPr/>
        </p:nvSpPr>
        <p:spPr>
          <a:xfrm>
            <a:off x="9984334" y="2352751"/>
            <a:ext cx="1172261" cy="1800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Modify edge costs based on predicted importance and re-solve TSP to assess routing impact.</a:t>
            </a:r>
            <a:endParaRPr lang="en-US" sz="900"/>
          </a:p>
        </p:txBody>
      </p:sp>
      <p:sp>
        <p:nvSpPr>
          <p:cNvPr id="72" name="Shape 48"/>
          <p:cNvSpPr/>
          <p:nvPr/>
        </p:nvSpPr>
        <p:spPr>
          <a:xfrm>
            <a:off x="9984334" y="4262018"/>
            <a:ext cx="1171346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73" name="Shape 49"/>
          <p:cNvSpPr/>
          <p:nvPr/>
        </p:nvSpPr>
        <p:spPr>
          <a:xfrm>
            <a:off x="9984334" y="4386377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10031882" y="4424782"/>
            <a:ext cx="57607" cy="75895"/>
          </a:xfrm>
          <a:prstGeom prst="rect">
            <a:avLst/>
          </a:prstGeom>
        </p:spPr>
      </p:pic>
      <p:sp>
        <p:nvSpPr>
          <p:cNvPr id="75" name="Text 50"/>
          <p:cNvSpPr txBox="1"/>
          <p:nvPr/>
        </p:nvSpPr>
        <p:spPr>
          <a:xfrm>
            <a:off x="10212934" y="4386377"/>
            <a:ext cx="14365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 tuning [0.2, 1.0]</a:t>
            </a:r>
            <a:endParaRPr lang="en-US" sz="900"/>
          </a:p>
        </p:txBody>
      </p:sp>
      <p:sp>
        <p:nvSpPr>
          <p:cNvPr id="76" name="Shape 51"/>
          <p:cNvSpPr/>
          <p:nvPr/>
        </p:nvSpPr>
        <p:spPr>
          <a:xfrm>
            <a:off x="9984334" y="457657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7" name="Image 23" descr="preencoded.png"/>
          <p:cNvPicPr>
            <a:picLocks noChangeAspect="1"/>
          </p:cNvPicPr>
          <p:nvPr/>
        </p:nvPicPr>
        <p:blipFill>
          <a:blip r:embed="rId7"/>
          <a:srcRect t="-7639" b="-7639"/>
          <a:stretch/>
        </p:blipFill>
        <p:spPr>
          <a:xfrm>
            <a:off x="10031882" y="4614977"/>
            <a:ext cx="57607" cy="75895"/>
          </a:xfrm>
          <a:prstGeom prst="rect">
            <a:avLst/>
          </a:prstGeom>
        </p:spPr>
      </p:pic>
      <p:sp>
        <p:nvSpPr>
          <p:cNvPr id="78" name="Text 52"/>
          <p:cNvSpPr txBox="1"/>
          <p:nvPr/>
        </p:nvSpPr>
        <p:spPr>
          <a:xfrm>
            <a:off x="10212934" y="4576572"/>
            <a:ext cx="1226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evaluation</a:t>
            </a:r>
            <a:endParaRPr lang="en-US" sz="900"/>
          </a:p>
        </p:txBody>
      </p:sp>
      <p:sp>
        <p:nvSpPr>
          <p:cNvPr id="79" name="Shape 53"/>
          <p:cNvSpPr/>
          <p:nvPr/>
        </p:nvSpPr>
        <p:spPr>
          <a:xfrm>
            <a:off x="609905" y="5267245"/>
            <a:ext cx="5372100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0" name="Image 2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9244" y="5466585"/>
            <a:ext cx="267005" cy="267005"/>
          </a:xfrm>
          <a:prstGeom prst="rect">
            <a:avLst/>
          </a:prstGeom>
        </p:spPr>
      </p:pic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11"/>
          <a:srcRect t="-16489" b="-16489"/>
          <a:stretch/>
        </p:blipFill>
        <p:spPr>
          <a:xfrm>
            <a:off x="899770" y="5543394"/>
            <a:ext cx="85954" cy="114300"/>
          </a:xfrm>
          <a:prstGeom prst="rect">
            <a:avLst/>
          </a:prstGeom>
        </p:spPr>
      </p:pic>
      <p:sp>
        <p:nvSpPr>
          <p:cNvPr id="82" name="Text 54"/>
          <p:cNvSpPr txBox="1"/>
          <p:nvPr/>
        </p:nvSpPr>
        <p:spPr>
          <a:xfrm>
            <a:off x="1190549" y="5500417"/>
            <a:ext cx="17117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Metrics</a:t>
            </a:r>
            <a:endParaRPr lang="en-US" sz="1200"/>
          </a:p>
        </p:txBody>
      </p:sp>
      <p:pic>
        <p:nvPicPr>
          <p:cNvPr id="83" name="Image 26" descr="preencoded.png"/>
          <p:cNvPicPr>
            <a:picLocks noChangeAspect="1"/>
          </p:cNvPicPr>
          <p:nvPr/>
        </p:nvPicPr>
        <p:blipFill>
          <a:blip r:embed="rId12"/>
          <a:srcRect l="-18" r="-18"/>
          <a:stretch/>
        </p:blipFill>
        <p:spPr>
          <a:xfrm>
            <a:off x="809244" y="5847889"/>
            <a:ext cx="1555394" cy="694944"/>
          </a:xfrm>
          <a:prstGeom prst="rect">
            <a:avLst/>
          </a:prstGeom>
        </p:spPr>
      </p:pic>
      <p:sp>
        <p:nvSpPr>
          <p:cNvPr id="84" name="Text 55"/>
          <p:cNvSpPr txBox="1"/>
          <p:nvPr/>
        </p:nvSpPr>
        <p:spPr>
          <a:xfrm>
            <a:off x="923544" y="5962189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3-5min</a:t>
            </a:r>
            <a:endParaRPr lang="en-US" sz="1300"/>
          </a:p>
        </p:txBody>
      </p:sp>
      <p:sp>
        <p:nvSpPr>
          <p:cNvPr id="85" name="Text 56"/>
          <p:cNvSpPr txBox="1"/>
          <p:nvPr/>
        </p:nvSpPr>
        <p:spPr>
          <a:xfrm>
            <a:off x="923544" y="6257541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Runtime</a:t>
            </a:r>
            <a:endParaRPr lang="en-US" sz="900"/>
          </a:p>
        </p:txBody>
      </p:sp>
      <p:pic>
        <p:nvPicPr>
          <p:cNvPr id="86" name="Image 27" descr="preencoded.png"/>
          <p:cNvPicPr>
            <a:picLocks noChangeAspect="1"/>
          </p:cNvPicPr>
          <p:nvPr/>
        </p:nvPicPr>
        <p:blipFill>
          <a:blip r:embed="rId13"/>
          <a:srcRect l="-13" r="-13"/>
          <a:stretch/>
        </p:blipFill>
        <p:spPr>
          <a:xfrm>
            <a:off x="2517343" y="5847889"/>
            <a:ext cx="1555394" cy="694944"/>
          </a:xfrm>
          <a:prstGeom prst="rect">
            <a:avLst/>
          </a:prstGeom>
        </p:spPr>
      </p:pic>
      <p:sp>
        <p:nvSpPr>
          <p:cNvPr id="87" name="Text 57"/>
          <p:cNvSpPr txBox="1"/>
          <p:nvPr/>
        </p:nvSpPr>
        <p:spPr>
          <a:xfrm>
            <a:off x="2631643" y="5962189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/>
          </a:p>
        </p:txBody>
      </p:sp>
      <p:sp>
        <p:nvSpPr>
          <p:cNvPr id="88" name="Text 58"/>
          <p:cNvSpPr txBox="1"/>
          <p:nvPr/>
        </p:nvSpPr>
        <p:spPr>
          <a:xfrm>
            <a:off x="2631643" y="6257541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</a:t>
            </a:r>
            <a:endParaRPr lang="en-US" sz="900"/>
          </a:p>
        </p:txBody>
      </p:sp>
      <p:pic>
        <p:nvPicPr>
          <p:cNvPr id="89" name="Image 28" descr="preencoded.png"/>
          <p:cNvPicPr>
            <a:picLocks noChangeAspect="1"/>
          </p:cNvPicPr>
          <p:nvPr/>
        </p:nvPicPr>
        <p:blipFill>
          <a:blip r:embed="rId12"/>
          <a:srcRect l="-18" r="-18"/>
          <a:stretch/>
        </p:blipFill>
        <p:spPr>
          <a:xfrm>
            <a:off x="4226357" y="5847889"/>
            <a:ext cx="1555394" cy="694944"/>
          </a:xfrm>
          <a:prstGeom prst="rect">
            <a:avLst/>
          </a:prstGeom>
        </p:spPr>
      </p:pic>
      <p:sp>
        <p:nvSpPr>
          <p:cNvPr id="90" name="Text 59"/>
          <p:cNvSpPr txBox="1"/>
          <p:nvPr/>
        </p:nvSpPr>
        <p:spPr>
          <a:xfrm>
            <a:off x="4340657" y="5962189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1300"/>
          </a:p>
        </p:txBody>
      </p:sp>
      <p:sp>
        <p:nvSpPr>
          <p:cNvPr id="91" name="Text 60"/>
          <p:cNvSpPr txBox="1"/>
          <p:nvPr/>
        </p:nvSpPr>
        <p:spPr>
          <a:xfrm>
            <a:off x="4340657" y="6257541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Speedup</a:t>
            </a:r>
            <a:endParaRPr lang="en-US" sz="900"/>
          </a:p>
        </p:txBody>
      </p:sp>
      <p:sp>
        <p:nvSpPr>
          <p:cNvPr id="92" name="Shape 61"/>
          <p:cNvSpPr/>
          <p:nvPr/>
        </p:nvSpPr>
        <p:spPr>
          <a:xfrm>
            <a:off x="6210605" y="5267245"/>
            <a:ext cx="5372100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3" name="Image 2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09944" y="5466585"/>
            <a:ext cx="267005" cy="267005"/>
          </a:xfrm>
          <a:prstGeom prst="rect">
            <a:avLst/>
          </a:prstGeom>
        </p:spPr>
      </p:pic>
      <p:pic>
        <p:nvPicPr>
          <p:cNvPr id="94" name="Image 30" descr="preencoded.png"/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6500470" y="5543394"/>
            <a:ext cx="85954" cy="114300"/>
          </a:xfrm>
          <a:prstGeom prst="rect">
            <a:avLst/>
          </a:prstGeom>
        </p:spPr>
      </p:pic>
      <p:sp>
        <p:nvSpPr>
          <p:cNvPr id="95" name="Text 62"/>
          <p:cNvSpPr txBox="1"/>
          <p:nvPr/>
        </p:nvSpPr>
        <p:spPr>
          <a:xfrm>
            <a:off x="6791249" y="5500417"/>
            <a:ext cx="997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/>
          </a:p>
        </p:txBody>
      </p:sp>
      <p:sp>
        <p:nvSpPr>
          <p:cNvPr id="96" name="Text 63"/>
          <p:cNvSpPr txBox="1"/>
          <p:nvPr/>
        </p:nvSpPr>
        <p:spPr>
          <a:xfrm>
            <a:off x="6409944" y="5847889"/>
            <a:ext cx="49725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parallelization proved effective with near-linear scaling up to available CPU cores. Warm-starting from base solution reduces convergence time significantly.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381305"/>
            <a:ext cx="444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Design Decisions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905" y="914400"/>
            <a:ext cx="47055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choices for the Eval-1 edge importance framework</a:t>
            </a:r>
            <a:endParaRPr lang="en-US" sz="12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11205" y="461772"/>
            <a:ext cx="571500" cy="5715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1153851" y="633679"/>
            <a:ext cx="286207" cy="228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09905" y="1363828"/>
            <a:ext cx="5372100" cy="238109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847649" y="2067458"/>
            <a:ext cx="48956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7649" y="1571854"/>
            <a:ext cx="381305" cy="3813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805" y="1676095"/>
            <a:ext cx="171907" cy="171907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43254" y="1647749"/>
            <a:ext cx="2029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Penalty Over Removal</a:t>
            </a:r>
            <a:endParaRPr lang="en-US" sz="1300"/>
          </a:p>
        </p:txBody>
      </p:sp>
      <p:sp>
        <p:nvSpPr>
          <p:cNvPr id="14" name="Shape 7"/>
          <p:cNvSpPr/>
          <p:nvPr/>
        </p:nvSpPr>
        <p:spPr>
          <a:xfrm>
            <a:off x="3232404" y="1652321"/>
            <a:ext cx="771754" cy="219456"/>
          </a:xfrm>
          <a:prstGeom prst="roundRect">
            <a:avLst>
              <a:gd name="adj" fmla="val 144928"/>
            </a:avLst>
          </a:prstGeom>
          <a:solidFill>
            <a:srgbClr val="D4ED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3232404" y="1652321"/>
            <a:ext cx="77175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1557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</a:t>
            </a:r>
            <a:endParaRPr lang="en-US" sz="800"/>
          </a:p>
        </p:txBody>
      </p:sp>
      <p:sp>
        <p:nvSpPr>
          <p:cNvPr id="16" name="Text 9"/>
          <p:cNvSpPr txBox="1"/>
          <p:nvPr/>
        </p:nvSpPr>
        <p:spPr>
          <a:xfrm>
            <a:off x="846735" y="2165713"/>
            <a:ext cx="48966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a large finite penalty rather than edge removal to maintain graph connectivity and avoid numerical instabilities in the solver.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846735" y="2667804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899770" y="2725118"/>
            <a:ext cx="85954" cy="9509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89965" y="2564184"/>
            <a:ext cx="46296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Penalty formula:</a:t>
            </a: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 = 7 × max(c) where max(c) is the maximum edge cost in the graph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847649" y="2979861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899770" y="3027410"/>
            <a:ext cx="85954" cy="9509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14654" y="2960658"/>
            <a:ext cx="44302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Benefit:</a:t>
            </a: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Preserves graph connectivity while simulating edge removal</a:t>
            </a:r>
            <a:endParaRPr lang="en-US" sz="90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rcRect l="-2" r="-2"/>
          <a:stretch/>
        </p:blipFill>
        <p:spPr>
          <a:xfrm>
            <a:off x="848563" y="3245950"/>
            <a:ext cx="4895698" cy="41148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961949" y="3357100"/>
            <a:ext cx="14392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Penalty multiplier:</a:t>
            </a:r>
            <a:endParaRPr lang="en-US" sz="900"/>
          </a:p>
        </p:txBody>
      </p:sp>
      <p:sp>
        <p:nvSpPr>
          <p:cNvPr id="25" name="Text 15"/>
          <p:cNvSpPr txBox="1"/>
          <p:nvPr/>
        </p:nvSpPr>
        <p:spPr>
          <a:xfrm>
            <a:off x="5392883" y="3357100"/>
            <a:ext cx="238908" cy="141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7×</a:t>
            </a:r>
            <a:endParaRPr lang="en-US" sz="900"/>
          </a:p>
        </p:txBody>
      </p:sp>
      <p:sp>
        <p:nvSpPr>
          <p:cNvPr id="26" name="Shape 16"/>
          <p:cNvSpPr/>
          <p:nvPr/>
        </p:nvSpPr>
        <p:spPr>
          <a:xfrm>
            <a:off x="6210605" y="1333195"/>
            <a:ext cx="5372100" cy="238109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6448349" y="2067458"/>
            <a:ext cx="48956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48349" y="1571854"/>
            <a:ext cx="381305" cy="381305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53505" y="1676095"/>
            <a:ext cx="171907" cy="171907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943954" y="1647749"/>
            <a:ext cx="234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 Optimization</a:t>
            </a:r>
            <a:endParaRPr lang="en-US" sz="1300"/>
          </a:p>
        </p:txBody>
      </p:sp>
      <p:sp>
        <p:nvSpPr>
          <p:cNvPr id="31" name="Shape 19"/>
          <p:cNvSpPr/>
          <p:nvPr/>
        </p:nvSpPr>
        <p:spPr>
          <a:xfrm>
            <a:off x="9099194" y="1652321"/>
            <a:ext cx="771754" cy="219456"/>
          </a:xfrm>
          <a:prstGeom prst="roundRect">
            <a:avLst>
              <a:gd name="adj" fmla="val 144928"/>
            </a:avLst>
          </a:prstGeom>
          <a:solidFill>
            <a:srgbClr val="D4ED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0"/>
          <p:cNvSpPr txBox="1"/>
          <p:nvPr/>
        </p:nvSpPr>
        <p:spPr>
          <a:xfrm>
            <a:off x="9099194" y="1652321"/>
            <a:ext cx="77175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1557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</a:t>
            </a:r>
            <a:endParaRPr lang="en-US" sz="800"/>
          </a:p>
        </p:txBody>
      </p:sp>
      <p:sp>
        <p:nvSpPr>
          <p:cNvPr id="33" name="Text 21"/>
          <p:cNvSpPr txBox="1"/>
          <p:nvPr/>
        </p:nvSpPr>
        <p:spPr>
          <a:xfrm>
            <a:off x="6447435" y="2176272"/>
            <a:ext cx="48966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Warm-starting from the base solution reduces convergence time from hundreds to approximately 100 solver trials per edge.</a:t>
            </a:r>
            <a:endParaRPr lang="en-US" sz="1000"/>
          </a:p>
        </p:txBody>
      </p:sp>
      <p:sp>
        <p:nvSpPr>
          <p:cNvPr id="34" name="Shape 22"/>
          <p:cNvSpPr/>
          <p:nvPr/>
        </p:nvSpPr>
        <p:spPr>
          <a:xfrm>
            <a:off x="6448349" y="2653502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500470" y="2701051"/>
            <a:ext cx="85954" cy="95098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715354" y="2634300"/>
            <a:ext cx="42226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Strategy:</a:t>
            </a: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 base tour as initial solution for perturbed instances</a:t>
            </a:r>
            <a:endParaRPr lang="en-US" sz="900"/>
          </a:p>
        </p:txBody>
      </p:sp>
      <p:sp>
        <p:nvSpPr>
          <p:cNvPr id="37" name="Shape 24"/>
          <p:cNvSpPr/>
          <p:nvPr/>
        </p:nvSpPr>
        <p:spPr>
          <a:xfrm>
            <a:off x="6448349" y="2938805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500470" y="2986354"/>
            <a:ext cx="85954" cy="95098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6715354" y="2919603"/>
            <a:ext cx="2437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</a:t>
            </a: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~3× reduction in solver trials</a:t>
            </a:r>
            <a:endParaRPr lang="en-US" sz="90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9"/>
          <a:srcRect l="-2" r="-2"/>
          <a:stretch/>
        </p:blipFill>
        <p:spPr>
          <a:xfrm>
            <a:off x="6448349" y="3196538"/>
            <a:ext cx="4895698" cy="41148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6562649" y="3310838"/>
            <a:ext cx="6208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Speedup:</a:t>
            </a:r>
            <a:endParaRPr lang="en-US" sz="900"/>
          </a:p>
        </p:txBody>
      </p:sp>
      <p:sp>
        <p:nvSpPr>
          <p:cNvPr id="42" name="Text 27"/>
          <p:cNvSpPr txBox="1"/>
          <p:nvPr/>
        </p:nvSpPr>
        <p:spPr>
          <a:xfrm>
            <a:off x="11007547" y="3310838"/>
            <a:ext cx="228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~3×</a:t>
            </a:r>
            <a:endParaRPr lang="en-US" sz="900"/>
          </a:p>
        </p:txBody>
      </p:sp>
      <p:sp>
        <p:nvSpPr>
          <p:cNvPr id="43" name="Shape 28"/>
          <p:cNvSpPr/>
          <p:nvPr/>
        </p:nvSpPr>
        <p:spPr>
          <a:xfrm>
            <a:off x="609905" y="3943807"/>
            <a:ext cx="5372100" cy="238109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29"/>
          <p:cNvSpPr/>
          <p:nvPr/>
        </p:nvSpPr>
        <p:spPr>
          <a:xfrm>
            <a:off x="847649" y="4677156"/>
            <a:ext cx="48956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7649" y="4181551"/>
            <a:ext cx="381305" cy="381305"/>
          </a:xfrm>
          <a:prstGeom prst="rect">
            <a:avLst/>
          </a:prstGeom>
        </p:spPr>
      </p:pic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2805" y="4286707"/>
            <a:ext cx="171907" cy="171907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1343254" y="4257446"/>
            <a:ext cx="1633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Execution</a:t>
            </a:r>
            <a:endParaRPr lang="en-US" sz="1300"/>
          </a:p>
        </p:txBody>
      </p:sp>
      <p:sp>
        <p:nvSpPr>
          <p:cNvPr id="48" name="Shape 31"/>
          <p:cNvSpPr/>
          <p:nvPr/>
        </p:nvSpPr>
        <p:spPr>
          <a:xfrm>
            <a:off x="2897734" y="4262018"/>
            <a:ext cx="771754" cy="219456"/>
          </a:xfrm>
          <a:prstGeom prst="roundRect">
            <a:avLst>
              <a:gd name="adj" fmla="val 144928"/>
            </a:avLst>
          </a:prstGeom>
          <a:solidFill>
            <a:srgbClr val="D4ED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32"/>
          <p:cNvSpPr txBox="1"/>
          <p:nvPr/>
        </p:nvSpPr>
        <p:spPr>
          <a:xfrm>
            <a:off x="2897734" y="4262018"/>
            <a:ext cx="77175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1557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</a:t>
            </a:r>
            <a:endParaRPr lang="en-US" sz="800"/>
          </a:p>
        </p:txBody>
      </p:sp>
      <p:sp>
        <p:nvSpPr>
          <p:cNvPr id="50" name="Text 33"/>
          <p:cNvSpPr txBox="1"/>
          <p:nvPr/>
        </p:nvSpPr>
        <p:spPr>
          <a:xfrm>
            <a:off x="847649" y="4750308"/>
            <a:ext cx="48966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perturbations are embarrassingly parallel—we use ProcessPoolExecutor to solve multiple perturbed instances concurrently.</a:t>
            </a:r>
            <a:endParaRPr lang="en-US" sz="1000"/>
          </a:p>
        </p:txBody>
      </p:sp>
      <p:sp>
        <p:nvSpPr>
          <p:cNvPr id="51" name="Shape 34"/>
          <p:cNvSpPr/>
          <p:nvPr/>
        </p:nvSpPr>
        <p:spPr>
          <a:xfrm>
            <a:off x="847649" y="5190465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899770" y="5238014"/>
            <a:ext cx="85954" cy="95098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1114654" y="5171263"/>
            <a:ext cx="3620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Workers:</a:t>
            </a: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CPU count minus 1 (reserves one core for OS)</a:t>
            </a:r>
            <a:endParaRPr lang="en-US" sz="900"/>
          </a:p>
        </p:txBody>
      </p:sp>
      <p:sp>
        <p:nvSpPr>
          <p:cNvPr id="54" name="Shape 36"/>
          <p:cNvSpPr/>
          <p:nvPr/>
        </p:nvSpPr>
        <p:spPr>
          <a:xfrm>
            <a:off x="847649" y="5439396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899770" y="5486945"/>
            <a:ext cx="85954" cy="95098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1114654" y="5420193"/>
            <a:ext cx="40800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model:</a:t>
            </a: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ProcessPoolExecutor with async job tracking</a:t>
            </a:r>
            <a:endParaRPr lang="en-US" sz="900"/>
          </a:p>
        </p:txBody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9"/>
          <a:srcRect l="-2" r="-2"/>
          <a:stretch/>
        </p:blipFill>
        <p:spPr>
          <a:xfrm>
            <a:off x="847649" y="5786367"/>
            <a:ext cx="4895698" cy="411480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961949" y="5900667"/>
            <a:ext cx="6163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Workers:</a:t>
            </a:r>
            <a:endParaRPr lang="en-US" sz="900"/>
          </a:p>
        </p:txBody>
      </p:sp>
      <p:sp>
        <p:nvSpPr>
          <p:cNvPr id="59" name="Text 39"/>
          <p:cNvSpPr txBox="1"/>
          <p:nvPr/>
        </p:nvSpPr>
        <p:spPr>
          <a:xfrm>
            <a:off x="5567782" y="5900667"/>
            <a:ext cx="81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/>
          </a:p>
        </p:txBody>
      </p:sp>
      <p:sp>
        <p:nvSpPr>
          <p:cNvPr id="60" name="Shape 40"/>
          <p:cNvSpPr/>
          <p:nvPr/>
        </p:nvSpPr>
        <p:spPr>
          <a:xfrm>
            <a:off x="6210605" y="3943807"/>
            <a:ext cx="5372100" cy="238109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41"/>
          <p:cNvSpPr/>
          <p:nvPr/>
        </p:nvSpPr>
        <p:spPr>
          <a:xfrm>
            <a:off x="6448349" y="4677156"/>
            <a:ext cx="48956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62" name="Image 1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48349" y="4181551"/>
            <a:ext cx="381305" cy="381305"/>
          </a:xfrm>
          <a:prstGeom prst="rect">
            <a:avLst/>
          </a:prstGeom>
        </p:spPr>
      </p:pic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53505" y="4286707"/>
            <a:ext cx="171907" cy="171907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6943954" y="4257446"/>
            <a:ext cx="1961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MATRIX Format</a:t>
            </a:r>
            <a:endParaRPr lang="en-US" sz="1300"/>
          </a:p>
        </p:txBody>
      </p:sp>
      <p:sp>
        <p:nvSpPr>
          <p:cNvPr id="65" name="Shape 43"/>
          <p:cNvSpPr/>
          <p:nvPr/>
        </p:nvSpPr>
        <p:spPr>
          <a:xfrm>
            <a:off x="8777326" y="4262018"/>
            <a:ext cx="771754" cy="219456"/>
          </a:xfrm>
          <a:prstGeom prst="roundRect">
            <a:avLst>
              <a:gd name="adj" fmla="val 144928"/>
            </a:avLst>
          </a:prstGeom>
          <a:solidFill>
            <a:srgbClr val="D4ED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44"/>
          <p:cNvSpPr txBox="1"/>
          <p:nvPr/>
        </p:nvSpPr>
        <p:spPr>
          <a:xfrm>
            <a:off x="8777326" y="4262018"/>
            <a:ext cx="77175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1557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</a:t>
            </a:r>
            <a:endParaRPr lang="en-US" sz="800"/>
          </a:p>
        </p:txBody>
      </p:sp>
      <p:sp>
        <p:nvSpPr>
          <p:cNvPr id="67" name="Text 45"/>
          <p:cNvSpPr txBox="1"/>
          <p:nvPr/>
        </p:nvSpPr>
        <p:spPr>
          <a:xfrm>
            <a:off x="6447435" y="4728362"/>
            <a:ext cx="48966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matrices already encode missing edges as large finite values, enabling direct representation without edge list conversion.</a:t>
            </a:r>
            <a:endParaRPr lang="en-US" sz="1000"/>
          </a:p>
        </p:txBody>
      </p:sp>
      <p:sp>
        <p:nvSpPr>
          <p:cNvPr id="68" name="Shape 46"/>
          <p:cNvSpPr/>
          <p:nvPr/>
        </p:nvSpPr>
        <p:spPr>
          <a:xfrm>
            <a:off x="6448349" y="5164490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500470" y="5212039"/>
            <a:ext cx="85954" cy="95098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6715354" y="5145288"/>
            <a:ext cx="40690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</a:t>
            </a: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FULL MATRIX for direct distance matrix representation</a:t>
            </a:r>
            <a:endParaRPr lang="en-US" sz="900"/>
          </a:p>
        </p:txBody>
      </p:sp>
      <p:sp>
        <p:nvSpPr>
          <p:cNvPr id="71" name="Shape 48"/>
          <p:cNvSpPr/>
          <p:nvPr/>
        </p:nvSpPr>
        <p:spPr>
          <a:xfrm>
            <a:off x="6448349" y="5434198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21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500470" y="5481747"/>
            <a:ext cx="85954" cy="95098"/>
          </a:xfrm>
          <a:prstGeom prst="rect">
            <a:avLst/>
          </a:prstGeom>
        </p:spPr>
      </p:pic>
      <p:sp>
        <p:nvSpPr>
          <p:cNvPr id="73" name="Text 49"/>
          <p:cNvSpPr txBox="1"/>
          <p:nvPr/>
        </p:nvSpPr>
        <p:spPr>
          <a:xfrm>
            <a:off x="6715354" y="5414995"/>
            <a:ext cx="29589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Advantage:</a:t>
            </a: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need for edge list conversion</a:t>
            </a:r>
            <a:endParaRPr lang="en-US" sz="900"/>
          </a:p>
        </p:txBody>
      </p:sp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9"/>
          <a:srcRect l="-2" r="-2"/>
          <a:stretch/>
        </p:blipFill>
        <p:spPr>
          <a:xfrm>
            <a:off x="6448349" y="5744801"/>
            <a:ext cx="4895698" cy="411480"/>
          </a:xfrm>
          <a:prstGeom prst="rect">
            <a:avLst/>
          </a:prstGeom>
        </p:spPr>
      </p:pic>
      <p:sp>
        <p:nvSpPr>
          <p:cNvPr id="75" name="Text 50"/>
          <p:cNvSpPr txBox="1"/>
          <p:nvPr/>
        </p:nvSpPr>
        <p:spPr>
          <a:xfrm>
            <a:off x="6562649" y="5859101"/>
            <a:ext cx="908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 size:</a:t>
            </a:r>
            <a:endParaRPr lang="en-US" sz="900"/>
          </a:p>
        </p:txBody>
      </p:sp>
      <p:sp>
        <p:nvSpPr>
          <p:cNvPr id="76" name="Text 51"/>
          <p:cNvSpPr txBox="1"/>
          <p:nvPr/>
        </p:nvSpPr>
        <p:spPr>
          <a:xfrm>
            <a:off x="10839298" y="5859101"/>
            <a:ext cx="5568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119×119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381305"/>
            <a:ext cx="5886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Algorithm 1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905" y="914400"/>
            <a:ext cx="6572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666666"/>
                </a:solidFill>
                <a:latin typeface="Segoe UI"/>
                <a:ea typeface="Segoe UI" pitchFamily="34" charset="-122"/>
                <a:cs typeface="Segoe UI"/>
              </a:rPr>
              <a:t>Compute Edge Importance procedure for Eval-1 edge importance computation</a:t>
            </a:r>
            <a:endParaRPr lang="en-US" sz="1300">
              <a:latin typeface="Segoe UI"/>
              <a:cs typeface="Segoe UI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09905" y="1333195"/>
            <a:ext cx="1097280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923544" y="2180844"/>
            <a:ext cx="10344607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1647749"/>
            <a:ext cx="381305" cy="38130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t="-30480" b="-30480"/>
          <a:stretch/>
        </p:blipFill>
        <p:spPr>
          <a:xfrm>
            <a:off x="1047902" y="1752905"/>
            <a:ext cx="133502" cy="1719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457554" y="1686154"/>
            <a:ext cx="46863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>
                <a:solidFill>
                  <a:srgbClr val="1A1A2E"/>
                </a:solidFill>
                <a:latin typeface="Segoe UI"/>
                <a:ea typeface="Segoe UI" pitchFamily="34" charset="-122"/>
                <a:cs typeface="Segoe UI"/>
              </a:rPr>
              <a:t>Algorithm 1: </a:t>
            </a:r>
            <a:r>
              <a:rPr lang="en-US" b="1">
                <a:solidFill>
                  <a:srgbClr val="1A1A2E"/>
                </a:solidFill>
                <a:latin typeface="Segoe UI"/>
                <a:ea typeface="Segoe UI" pitchFamily="34" charset="-122"/>
                <a:cs typeface="Segoe UI"/>
              </a:rPr>
              <a:t>Compute Edge Importance</a:t>
            </a:r>
            <a:endParaRPr lang="en-US" sz="1800"/>
          </a:p>
        </p:txBody>
      </p:sp>
      <p:sp>
        <p:nvSpPr>
          <p:cNvPr id="15" name="Shape 8"/>
          <p:cNvSpPr/>
          <p:nvPr/>
        </p:nvSpPr>
        <p:spPr>
          <a:xfrm>
            <a:off x="876785" y="2397848"/>
            <a:ext cx="10344607" cy="3282364"/>
          </a:xfrm>
          <a:prstGeom prst="roundRect">
            <a:avLst>
              <a:gd name="adj" fmla="val 2438"/>
            </a:avLst>
          </a:prstGeom>
          <a:solidFill>
            <a:srgbClr val="F8F9FA"/>
          </a:solidFill>
          <a:ln/>
        </p:spPr>
      </p:sp>
      <p:sp>
        <p:nvSpPr>
          <p:cNvPr id="16" name="Shape 9"/>
          <p:cNvSpPr/>
          <p:nvPr/>
        </p:nvSpPr>
        <p:spPr>
          <a:xfrm>
            <a:off x="923544" y="2428646"/>
            <a:ext cx="45719" cy="3251566"/>
          </a:xfrm>
          <a:prstGeom prst="roundRect">
            <a:avLst>
              <a:gd name="adj" fmla="val 101183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1209751" y="2657246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/>
          </a:p>
        </p:txBody>
      </p:sp>
      <p:sp>
        <p:nvSpPr>
          <p:cNvPr id="19" name="Text 12"/>
          <p:cNvSpPr txBox="1"/>
          <p:nvPr/>
        </p:nvSpPr>
        <p:spPr>
          <a:xfrm>
            <a:off x="1209751" y="3042209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/>
          </a:p>
        </p:txBody>
      </p:sp>
      <p:sp>
        <p:nvSpPr>
          <p:cNvPr id="20" name="Text 13"/>
          <p:cNvSpPr txBox="1"/>
          <p:nvPr/>
        </p:nvSpPr>
        <p:spPr>
          <a:xfrm>
            <a:off x="1666951" y="3042209"/>
            <a:ext cx="93726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← len(baseRoute)</a:t>
            </a:r>
            <a:endParaRPr lang="en-US" sz="1300"/>
          </a:p>
        </p:txBody>
      </p:sp>
      <p:sp>
        <p:nvSpPr>
          <p:cNvPr id="21" name="Text 14"/>
          <p:cNvSpPr txBox="1"/>
          <p:nvPr/>
        </p:nvSpPr>
        <p:spPr>
          <a:xfrm>
            <a:off x="1209751" y="3427171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/>
          </a:p>
        </p:txBody>
      </p:sp>
      <p:sp>
        <p:nvSpPr>
          <p:cNvPr id="22" name="Text 15"/>
          <p:cNvSpPr txBox="1"/>
          <p:nvPr/>
        </p:nvSpPr>
        <p:spPr>
          <a:xfrm>
            <a:off x="1666951" y="3427171"/>
            <a:ext cx="93726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 ← 7 × max(matrix)</a:t>
            </a:r>
            <a:endParaRPr lang="en-US" sz="1300"/>
          </a:p>
        </p:txBody>
      </p:sp>
      <p:sp>
        <p:nvSpPr>
          <p:cNvPr id="23" name="Text 16"/>
          <p:cNvSpPr txBox="1"/>
          <p:nvPr/>
        </p:nvSpPr>
        <p:spPr>
          <a:xfrm>
            <a:off x="1209751" y="3812134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/>
          </a:p>
        </p:txBody>
      </p:sp>
      <p:sp>
        <p:nvSpPr>
          <p:cNvPr id="24" name="Text 17"/>
          <p:cNvSpPr txBox="1"/>
          <p:nvPr/>
        </p:nvSpPr>
        <p:spPr>
          <a:xfrm>
            <a:off x="1666951" y="3812134"/>
            <a:ext cx="93726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← {tour edges from baseRoute}</a:t>
            </a:r>
            <a:endParaRPr lang="en-US" sz="1300"/>
          </a:p>
        </p:txBody>
      </p:sp>
      <p:sp>
        <p:nvSpPr>
          <p:cNvPr id="25" name="Text 18"/>
          <p:cNvSpPr txBox="1"/>
          <p:nvPr/>
        </p:nvSpPr>
        <p:spPr>
          <a:xfrm>
            <a:off x="1209751" y="4197096"/>
            <a:ext cx="305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/>
          </a:p>
        </p:txBody>
      </p:sp>
      <p:sp>
        <p:nvSpPr>
          <p:cNvPr id="26" name="Text 19"/>
          <p:cNvSpPr txBox="1"/>
          <p:nvPr/>
        </p:nvSpPr>
        <p:spPr>
          <a:xfrm>
            <a:off x="1666951" y="4197096"/>
            <a:ext cx="93726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 ← {}</a:t>
            </a:r>
            <a:endParaRPr lang="en-US" sz="13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554AD4-AC67-05E5-DEB1-CE9D4016A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143" y="2501989"/>
            <a:ext cx="6553536" cy="31104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486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Details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49633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Solver configuration, parallelization, and optimization strategies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609905" y="1248488"/>
            <a:ext cx="6400800" cy="3309213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47649" y="1762049"/>
            <a:ext cx="59243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380744"/>
            <a:ext cx="304495" cy="304495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1466698"/>
            <a:ext cx="133502" cy="13350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66444" y="1419149"/>
            <a:ext cx="191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Solver Configuration</a:t>
            </a:r>
            <a:endParaRPr lang="en-US" sz="1300"/>
          </a:p>
        </p:txBody>
      </p:sp>
      <p:sp>
        <p:nvSpPr>
          <p:cNvPr id="16" name="Shape 9"/>
          <p:cNvSpPr/>
          <p:nvPr/>
        </p:nvSpPr>
        <p:spPr>
          <a:xfrm>
            <a:off x="3063240" y="1419149"/>
            <a:ext cx="828446" cy="228600"/>
          </a:xfrm>
          <a:prstGeom prst="roundRect">
            <a:avLst>
              <a:gd name="adj" fmla="val 133333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140050" y="1476756"/>
            <a:ext cx="105156" cy="1143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3282696" y="1419149"/>
            <a:ext cx="534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</a:t>
            </a:r>
            <a:endParaRPr lang="en-US" sz="900"/>
          </a:p>
        </p:txBody>
      </p:sp>
      <p:sp>
        <p:nvSpPr>
          <p:cNvPr id="19" name="Shape 11"/>
          <p:cNvSpPr/>
          <p:nvPr/>
        </p:nvSpPr>
        <p:spPr>
          <a:xfrm>
            <a:off x="847649" y="1933956"/>
            <a:ext cx="5924398" cy="800100"/>
          </a:xfrm>
          <a:prstGeom prst="roundRect">
            <a:avLst>
              <a:gd name="adj" fmla="val 2176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0354" y="2104949"/>
            <a:ext cx="457200" cy="457200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33856" y="2238451"/>
            <a:ext cx="190195" cy="19019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609344" y="2085746"/>
            <a:ext cx="50109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LKH-3 (Lin-Kernighan-Helsgaun)</a:t>
            </a:r>
            <a:endParaRPr lang="en-US" sz="1200"/>
          </a:p>
        </p:txBody>
      </p:sp>
      <p:sp>
        <p:nvSpPr>
          <p:cNvPr id="23" name="Text 13"/>
          <p:cNvSpPr txBox="1"/>
          <p:nvPr/>
        </p:nvSpPr>
        <p:spPr>
          <a:xfrm>
            <a:off x="1609344" y="2368296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trials: 100 | Runs per instance: 1</a:t>
            </a:r>
            <a:endParaRPr lang="en-US" sz="1000"/>
          </a:p>
        </p:txBody>
      </p:sp>
      <p:sp>
        <p:nvSpPr>
          <p:cNvPr id="24" name="Shape 14"/>
          <p:cNvSpPr/>
          <p:nvPr/>
        </p:nvSpPr>
        <p:spPr>
          <a:xfrm>
            <a:off x="847649" y="2962656"/>
            <a:ext cx="2885846" cy="666598"/>
          </a:xfrm>
          <a:prstGeom prst="roundRect">
            <a:avLst>
              <a:gd name="adj" fmla="val 31354"/>
            </a:avLst>
          </a:prstGeom>
          <a:solidFill>
            <a:srgbClr val="F8F9FA"/>
          </a:solidFill>
          <a:ln/>
        </p:spPr>
      </p:sp>
      <p:sp>
        <p:nvSpPr>
          <p:cNvPr id="25" name="Shape 15"/>
          <p:cNvSpPr/>
          <p:nvPr/>
        </p:nvSpPr>
        <p:spPr>
          <a:xfrm>
            <a:off x="847649" y="2962656"/>
            <a:ext cx="28346" cy="666598"/>
          </a:xfrm>
          <a:prstGeom prst="roundRect">
            <a:avLst>
              <a:gd name="adj" fmla="val 737338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990295" y="3076956"/>
            <a:ext cx="2628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Penalty Multiplier</a:t>
            </a:r>
            <a:endParaRPr lang="en-US" sz="900"/>
          </a:p>
        </p:txBody>
      </p:sp>
      <p:sp>
        <p:nvSpPr>
          <p:cNvPr id="27" name="Text 17"/>
          <p:cNvSpPr txBox="1"/>
          <p:nvPr/>
        </p:nvSpPr>
        <p:spPr>
          <a:xfrm>
            <a:off x="990295" y="3297326"/>
            <a:ext cx="2628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7× max(distance matrix)</a:t>
            </a:r>
            <a:endParaRPr lang="en-US" sz="1000"/>
          </a:p>
        </p:txBody>
      </p:sp>
      <p:sp>
        <p:nvSpPr>
          <p:cNvPr id="28" name="Shape 18"/>
          <p:cNvSpPr/>
          <p:nvPr/>
        </p:nvSpPr>
        <p:spPr>
          <a:xfrm>
            <a:off x="3886200" y="2962656"/>
            <a:ext cx="2885846" cy="666598"/>
          </a:xfrm>
          <a:prstGeom prst="roundRect">
            <a:avLst>
              <a:gd name="adj" fmla="val 31354"/>
            </a:avLst>
          </a:prstGeom>
          <a:solidFill>
            <a:srgbClr val="F8F9FA"/>
          </a:solidFill>
          <a:ln/>
        </p:spPr>
      </p:sp>
      <p:sp>
        <p:nvSpPr>
          <p:cNvPr id="29" name="Shape 19"/>
          <p:cNvSpPr/>
          <p:nvPr/>
        </p:nvSpPr>
        <p:spPr>
          <a:xfrm>
            <a:off x="3886200" y="2962656"/>
            <a:ext cx="28346" cy="666598"/>
          </a:xfrm>
          <a:prstGeom prst="roundRect">
            <a:avLst>
              <a:gd name="adj" fmla="val 737338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4028846" y="3076956"/>
            <a:ext cx="2628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</a:t>
            </a:r>
            <a:endParaRPr lang="en-US" sz="900"/>
          </a:p>
        </p:txBody>
      </p:sp>
      <p:sp>
        <p:nvSpPr>
          <p:cNvPr id="31" name="Text 21"/>
          <p:cNvSpPr txBox="1"/>
          <p:nvPr/>
        </p:nvSpPr>
        <p:spPr>
          <a:xfrm>
            <a:off x="4028846" y="3297326"/>
            <a:ext cx="2628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Enabled (3× speedup)</a:t>
            </a:r>
            <a:endParaRPr lang="en-US" sz="1000"/>
          </a:p>
        </p:txBody>
      </p:sp>
      <p:sp>
        <p:nvSpPr>
          <p:cNvPr id="32" name="Shape 22"/>
          <p:cNvSpPr/>
          <p:nvPr/>
        </p:nvSpPr>
        <p:spPr>
          <a:xfrm>
            <a:off x="847649" y="3777386"/>
            <a:ext cx="2885846" cy="666598"/>
          </a:xfrm>
          <a:prstGeom prst="roundRect">
            <a:avLst>
              <a:gd name="adj" fmla="val 31354"/>
            </a:avLst>
          </a:prstGeom>
          <a:solidFill>
            <a:srgbClr val="F8F9FA"/>
          </a:solidFill>
          <a:ln/>
        </p:spPr>
      </p:sp>
      <p:sp>
        <p:nvSpPr>
          <p:cNvPr id="33" name="Shape 23"/>
          <p:cNvSpPr/>
          <p:nvPr/>
        </p:nvSpPr>
        <p:spPr>
          <a:xfrm>
            <a:off x="847649" y="3777386"/>
            <a:ext cx="28346" cy="666598"/>
          </a:xfrm>
          <a:prstGeom prst="roundRect">
            <a:avLst>
              <a:gd name="adj" fmla="val 737338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990295" y="3891686"/>
            <a:ext cx="2628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Workers</a:t>
            </a:r>
            <a:endParaRPr lang="en-US" sz="900"/>
          </a:p>
        </p:txBody>
      </p:sp>
      <p:sp>
        <p:nvSpPr>
          <p:cNvPr id="35" name="Text 25"/>
          <p:cNvSpPr txBox="1"/>
          <p:nvPr/>
        </p:nvSpPr>
        <p:spPr>
          <a:xfrm>
            <a:off x="990295" y="4112971"/>
            <a:ext cx="2628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count - 1</a:t>
            </a:r>
            <a:endParaRPr lang="en-US" sz="1000"/>
          </a:p>
        </p:txBody>
      </p:sp>
      <p:sp>
        <p:nvSpPr>
          <p:cNvPr id="36" name="Shape 26"/>
          <p:cNvSpPr/>
          <p:nvPr/>
        </p:nvSpPr>
        <p:spPr>
          <a:xfrm>
            <a:off x="3886200" y="3777386"/>
            <a:ext cx="2885846" cy="666598"/>
          </a:xfrm>
          <a:prstGeom prst="roundRect">
            <a:avLst>
              <a:gd name="adj" fmla="val 31354"/>
            </a:avLst>
          </a:prstGeom>
          <a:solidFill>
            <a:srgbClr val="F8F9FA"/>
          </a:solidFill>
          <a:ln/>
        </p:spPr>
      </p:sp>
      <p:sp>
        <p:nvSpPr>
          <p:cNvPr id="37" name="Shape 27"/>
          <p:cNvSpPr/>
          <p:nvPr/>
        </p:nvSpPr>
        <p:spPr>
          <a:xfrm>
            <a:off x="3886200" y="3777386"/>
            <a:ext cx="28346" cy="666598"/>
          </a:xfrm>
          <a:prstGeom prst="roundRect">
            <a:avLst>
              <a:gd name="adj" fmla="val 737338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4028846" y="3891686"/>
            <a:ext cx="2628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Optimization</a:t>
            </a:r>
            <a:endParaRPr lang="en-US" sz="900"/>
          </a:p>
        </p:txBody>
      </p:sp>
      <p:sp>
        <p:nvSpPr>
          <p:cNvPr id="39" name="Text 29"/>
          <p:cNvSpPr txBox="1"/>
          <p:nvPr/>
        </p:nvSpPr>
        <p:spPr>
          <a:xfrm>
            <a:off x="4028846" y="4112971"/>
            <a:ext cx="2628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Shallow row-wise copy</a:t>
            </a:r>
            <a:endParaRPr lang="en-US" sz="1000"/>
          </a:p>
        </p:txBody>
      </p:sp>
      <p:sp>
        <p:nvSpPr>
          <p:cNvPr id="40" name="Shape 30"/>
          <p:cNvSpPr/>
          <p:nvPr/>
        </p:nvSpPr>
        <p:spPr>
          <a:xfrm>
            <a:off x="609905" y="4775911"/>
            <a:ext cx="6400800" cy="1957318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847649" y="5256473"/>
            <a:ext cx="59243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4875168"/>
            <a:ext cx="304495" cy="304495"/>
          </a:xfrm>
          <a:prstGeom prst="rect">
            <a:avLst/>
          </a:prstGeom>
        </p:spPr>
      </p:pic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923544" y="4961121"/>
            <a:ext cx="152705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266444" y="4913573"/>
            <a:ext cx="2120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Parallelization Strategy</a:t>
            </a:r>
            <a:endParaRPr lang="en-US" sz="1300"/>
          </a:p>
        </p:txBody>
      </p:sp>
      <p:sp>
        <p:nvSpPr>
          <p:cNvPr id="45" name="Text 33"/>
          <p:cNvSpPr txBox="1"/>
          <p:nvPr/>
        </p:nvSpPr>
        <p:spPr>
          <a:xfrm>
            <a:off x="1190549" y="5427465"/>
            <a:ext cx="5582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ProcessPoolExecutor:</a:t>
            </a:r>
            <a:r>
              <a:rPr lang="en-US" sz="12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Asynchronous job completion tracking with CPU count - 1 workers</a:t>
            </a:r>
            <a:endParaRPr lang="en-US" sz="1200"/>
          </a:p>
        </p:txBody>
      </p:sp>
      <p:sp>
        <p:nvSpPr>
          <p:cNvPr id="46" name="Shape 34"/>
          <p:cNvSpPr/>
          <p:nvPr/>
        </p:nvSpPr>
        <p:spPr>
          <a:xfrm>
            <a:off x="847649" y="5446668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909828" y="5504275"/>
            <a:ext cx="105156" cy="11430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1190549" y="5980225"/>
            <a:ext cx="6268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Optimization:</a:t>
            </a:r>
            <a:r>
              <a:rPr lang="en-US" sz="12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Shallow row-wise copying to avoid full matrix duplication</a:t>
            </a:r>
            <a:endParaRPr lang="en-US" sz="1200"/>
          </a:p>
        </p:txBody>
      </p:sp>
      <p:sp>
        <p:nvSpPr>
          <p:cNvPr id="49" name="Shape 36"/>
          <p:cNvSpPr/>
          <p:nvPr/>
        </p:nvSpPr>
        <p:spPr>
          <a:xfrm>
            <a:off x="847649" y="5994233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909828" y="6056120"/>
            <a:ext cx="105156" cy="11430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1190549" y="6385924"/>
            <a:ext cx="61502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Embarrassingly Parallel:</a:t>
            </a:r>
            <a:r>
              <a:rPr lang="en-US" sz="12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Edge perturbations processed concurrently</a:t>
            </a:r>
            <a:endParaRPr lang="en-US" sz="1200"/>
          </a:p>
        </p:txBody>
      </p:sp>
      <p:sp>
        <p:nvSpPr>
          <p:cNvPr id="52" name="Shape 38"/>
          <p:cNvSpPr/>
          <p:nvPr/>
        </p:nvSpPr>
        <p:spPr>
          <a:xfrm>
            <a:off x="847649" y="6404215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909828" y="6461820"/>
            <a:ext cx="105156" cy="11430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7295998" y="966364"/>
            <a:ext cx="4286707" cy="4000500"/>
          </a:xfrm>
          <a:prstGeom prst="roundRect">
            <a:avLst>
              <a:gd name="adj" fmla="val 13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42"/>
          <p:cNvSpPr/>
          <p:nvPr/>
        </p:nvSpPr>
        <p:spPr>
          <a:xfrm>
            <a:off x="7534656" y="1585413"/>
            <a:ext cx="38103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656" y="1204108"/>
            <a:ext cx="304495" cy="304495"/>
          </a:xfrm>
          <a:prstGeom prst="rect">
            <a:avLst/>
          </a:prstGeom>
        </p:spPr>
      </p:pic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19695" y="1290062"/>
            <a:ext cx="133502" cy="133502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7953451" y="1242513"/>
            <a:ext cx="234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 Optimization</a:t>
            </a:r>
            <a:endParaRPr lang="en-US" sz="130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2"/>
          <a:srcRect l="-18" r="-18"/>
          <a:stretch/>
        </p:blipFill>
        <p:spPr>
          <a:xfrm>
            <a:off x="7534656" y="1757320"/>
            <a:ext cx="3810305" cy="1336853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7763256" y="2000550"/>
            <a:ext cx="16102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Solver Performance</a:t>
            </a:r>
            <a:endParaRPr lang="en-US" sz="1200"/>
          </a:p>
        </p:txBody>
      </p:sp>
      <p:sp>
        <p:nvSpPr>
          <p:cNvPr id="63" name="Text 45"/>
          <p:cNvSpPr txBox="1"/>
          <p:nvPr/>
        </p:nvSpPr>
        <p:spPr>
          <a:xfrm>
            <a:off x="10895990" y="1985920"/>
            <a:ext cx="228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1300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3"/>
          <a:srcRect l="-85" r="-85"/>
          <a:stretch/>
        </p:blipFill>
        <p:spPr>
          <a:xfrm>
            <a:off x="7763256" y="2412030"/>
            <a:ext cx="3353105" cy="95098"/>
          </a:xfrm>
          <a:prstGeom prst="rect">
            <a:avLst/>
          </a:prstGeom>
        </p:spPr>
      </p:pic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4"/>
          <a:srcRect l="-80" r="-80"/>
          <a:stretch/>
        </p:blipFill>
        <p:spPr>
          <a:xfrm>
            <a:off x="7763256" y="2412030"/>
            <a:ext cx="2514600" cy="95098"/>
          </a:xfrm>
          <a:prstGeom prst="rect">
            <a:avLst/>
          </a:prstGeom>
        </p:spPr>
      </p:pic>
      <p:sp>
        <p:nvSpPr>
          <p:cNvPr id="66" name="Text 46"/>
          <p:cNvSpPr txBox="1"/>
          <p:nvPr/>
        </p:nvSpPr>
        <p:spPr>
          <a:xfrm>
            <a:off x="7763256" y="2636973"/>
            <a:ext cx="723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Speedup:</a:t>
            </a:r>
            <a:endParaRPr lang="en-US" sz="1000"/>
          </a:p>
        </p:txBody>
      </p:sp>
      <p:sp>
        <p:nvSpPr>
          <p:cNvPr id="67" name="Text 47"/>
          <p:cNvSpPr txBox="1"/>
          <p:nvPr/>
        </p:nvSpPr>
        <p:spPr>
          <a:xfrm>
            <a:off x="8388706" y="2621428"/>
            <a:ext cx="23920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~3× reduction in solver trials</a:t>
            </a:r>
            <a:endParaRPr lang="en-US" sz="1200"/>
          </a:p>
        </p:txBody>
      </p:sp>
      <p:sp>
        <p:nvSpPr>
          <p:cNvPr id="68" name="Shape 48"/>
          <p:cNvSpPr/>
          <p:nvPr/>
        </p:nvSpPr>
        <p:spPr>
          <a:xfrm>
            <a:off x="7534656" y="3779973"/>
            <a:ext cx="381030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69" name="Text 49"/>
          <p:cNvSpPr txBox="1"/>
          <p:nvPr/>
        </p:nvSpPr>
        <p:spPr>
          <a:xfrm>
            <a:off x="7534656" y="3437073"/>
            <a:ext cx="201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tour as initial solution</a:t>
            </a:r>
            <a:endParaRPr lang="en-US" sz="1100"/>
          </a:p>
        </p:txBody>
      </p:sp>
      <p:sp>
        <p:nvSpPr>
          <p:cNvPr id="70" name="Text 50"/>
          <p:cNvSpPr txBox="1"/>
          <p:nvPr/>
        </p:nvSpPr>
        <p:spPr>
          <a:xfrm>
            <a:off x="10826496" y="3437073"/>
            <a:ext cx="623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Enabled</a:t>
            </a:r>
            <a:endParaRPr lang="en-US" sz="1100"/>
          </a:p>
        </p:txBody>
      </p:sp>
      <p:sp>
        <p:nvSpPr>
          <p:cNvPr id="71" name="Shape 51"/>
          <p:cNvSpPr/>
          <p:nvPr/>
        </p:nvSpPr>
        <p:spPr>
          <a:xfrm>
            <a:off x="7534656" y="4246317"/>
            <a:ext cx="381030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72" name="Text 52"/>
          <p:cNvSpPr txBox="1"/>
          <p:nvPr/>
        </p:nvSpPr>
        <p:spPr>
          <a:xfrm>
            <a:off x="7534656" y="390341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Convergence time</a:t>
            </a:r>
            <a:endParaRPr lang="en-US" sz="1100"/>
          </a:p>
        </p:txBody>
      </p:sp>
      <p:sp>
        <p:nvSpPr>
          <p:cNvPr id="73" name="Text 53"/>
          <p:cNvSpPr txBox="1"/>
          <p:nvPr/>
        </p:nvSpPr>
        <p:spPr>
          <a:xfrm>
            <a:off x="10674706" y="3903417"/>
            <a:ext cx="805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~100 trials</a:t>
            </a:r>
            <a:endParaRPr lang="en-US" sz="1100"/>
          </a:p>
        </p:txBody>
      </p:sp>
      <p:sp>
        <p:nvSpPr>
          <p:cNvPr id="74" name="Shape 54"/>
          <p:cNvSpPr/>
          <p:nvPr/>
        </p:nvSpPr>
        <p:spPr>
          <a:xfrm>
            <a:off x="7534656" y="4713575"/>
            <a:ext cx="381030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75" name="Text 55"/>
          <p:cNvSpPr txBox="1"/>
          <p:nvPr/>
        </p:nvSpPr>
        <p:spPr>
          <a:xfrm>
            <a:off x="7534656" y="4370675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 start trials</a:t>
            </a:r>
            <a:endParaRPr lang="en-US" sz="1100"/>
          </a:p>
        </p:txBody>
      </p:sp>
      <p:sp>
        <p:nvSpPr>
          <p:cNvPr id="76" name="Text 56"/>
          <p:cNvSpPr txBox="1"/>
          <p:nvPr/>
        </p:nvSpPr>
        <p:spPr>
          <a:xfrm>
            <a:off x="10652760" y="4370675"/>
            <a:ext cx="827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~300 trials</a:t>
            </a:r>
            <a:endParaRPr lang="en-US" sz="1100"/>
          </a:p>
        </p:txBody>
      </p:sp>
      <p:sp>
        <p:nvSpPr>
          <p:cNvPr id="77" name="Shape 57"/>
          <p:cNvSpPr/>
          <p:nvPr/>
        </p:nvSpPr>
        <p:spPr>
          <a:xfrm>
            <a:off x="7295998" y="5189978"/>
            <a:ext cx="4286707" cy="1524305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8" name="Shape 58"/>
          <p:cNvSpPr/>
          <p:nvPr/>
        </p:nvSpPr>
        <p:spPr>
          <a:xfrm>
            <a:off x="7534656" y="5809026"/>
            <a:ext cx="38103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656" y="5427722"/>
            <a:ext cx="304495" cy="304495"/>
          </a:xfrm>
          <a:prstGeom prst="rect">
            <a:avLst/>
          </a:prstGeom>
        </p:spPr>
      </p:pic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619695" y="5513675"/>
            <a:ext cx="133502" cy="133502"/>
          </a:xfrm>
          <a:prstGeom prst="rect">
            <a:avLst/>
          </a:prstGeom>
        </p:spPr>
      </p:pic>
      <p:sp>
        <p:nvSpPr>
          <p:cNvPr id="81" name="Text 59"/>
          <p:cNvSpPr txBox="1"/>
          <p:nvPr/>
        </p:nvSpPr>
        <p:spPr>
          <a:xfrm>
            <a:off x="7953451" y="5466126"/>
            <a:ext cx="1927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Metrics</a:t>
            </a:r>
            <a:endParaRPr lang="en-US" sz="1300"/>
          </a:p>
        </p:txBody>
      </p:sp>
      <p:sp>
        <p:nvSpPr>
          <p:cNvPr id="82" name="Text 60"/>
          <p:cNvSpPr txBox="1"/>
          <p:nvPr/>
        </p:nvSpPr>
        <p:spPr>
          <a:xfrm>
            <a:off x="7534656" y="5980019"/>
            <a:ext cx="3968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2-5s</a:t>
            </a:r>
            <a:endParaRPr lang="en-US" sz="1300"/>
          </a:p>
        </p:txBody>
      </p:sp>
      <p:sp>
        <p:nvSpPr>
          <p:cNvPr id="83" name="Text 61"/>
          <p:cNvSpPr txBox="1"/>
          <p:nvPr/>
        </p:nvSpPr>
        <p:spPr>
          <a:xfrm>
            <a:off x="7943393" y="6010194"/>
            <a:ext cx="12490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TSP solve</a:t>
            </a:r>
            <a:endParaRPr lang="en-US" sz="1000"/>
          </a:p>
        </p:txBody>
      </p:sp>
      <p:sp>
        <p:nvSpPr>
          <p:cNvPr id="84" name="Text 62"/>
          <p:cNvSpPr txBox="1"/>
          <p:nvPr/>
        </p:nvSpPr>
        <p:spPr>
          <a:xfrm>
            <a:off x="9553651" y="5980019"/>
            <a:ext cx="66111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3-5min</a:t>
            </a:r>
            <a:endParaRPr lang="en-US" sz="1300"/>
          </a:p>
        </p:txBody>
      </p:sp>
      <p:sp>
        <p:nvSpPr>
          <p:cNvPr id="85" name="Text 63"/>
          <p:cNvSpPr txBox="1"/>
          <p:nvPr/>
        </p:nvSpPr>
        <p:spPr>
          <a:xfrm>
            <a:off x="10185502" y="6010194"/>
            <a:ext cx="1061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Eval-1</a:t>
            </a:r>
            <a:endParaRPr lang="en-US" sz="1000"/>
          </a:p>
        </p:txBody>
      </p:sp>
      <p:sp>
        <p:nvSpPr>
          <p:cNvPr id="86" name="Text 64"/>
          <p:cNvSpPr txBox="1"/>
          <p:nvPr/>
        </p:nvSpPr>
        <p:spPr>
          <a:xfrm>
            <a:off x="7534655" y="6399814"/>
            <a:ext cx="3090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</a:t>
            </a:r>
            <a:endParaRPr lang="en-US" sz="1300"/>
          </a:p>
        </p:txBody>
      </p:sp>
      <p:sp>
        <p:nvSpPr>
          <p:cNvPr id="87" name="Text 65"/>
          <p:cNvSpPr txBox="1"/>
          <p:nvPr/>
        </p:nvSpPr>
        <p:spPr>
          <a:xfrm>
            <a:off x="7921447" y="6435897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 processed</a:t>
            </a:r>
            <a:endParaRPr lang="en-US" sz="1000"/>
          </a:p>
        </p:txBody>
      </p:sp>
      <p:sp>
        <p:nvSpPr>
          <p:cNvPr id="88" name="Text 66"/>
          <p:cNvSpPr txBox="1"/>
          <p:nvPr/>
        </p:nvSpPr>
        <p:spPr>
          <a:xfrm>
            <a:off x="9545879" y="6404215"/>
            <a:ext cx="11064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/>
          </a:p>
        </p:txBody>
      </p:sp>
      <p:sp>
        <p:nvSpPr>
          <p:cNvPr id="89" name="Text 67"/>
          <p:cNvSpPr txBox="1"/>
          <p:nvPr/>
        </p:nvSpPr>
        <p:spPr>
          <a:xfrm>
            <a:off x="9737445" y="6441092"/>
            <a:ext cx="10808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used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8269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Instance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(Amazon Last-Mile Route)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6363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routing instance with 119 delivery locations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609905" y="1132609"/>
            <a:ext cx="7162495" cy="5494629"/>
          </a:xfrm>
          <a:prstGeom prst="roundRect">
            <a:avLst>
              <a:gd name="adj" fmla="val 64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923544" y="1685239"/>
            <a:ext cx="6534302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1266444"/>
            <a:ext cx="304495" cy="3044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9498" y="1352398"/>
            <a:ext cx="133502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43254" y="1304849"/>
            <a:ext cx="1881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Specifications</a:t>
            </a:r>
            <a:endParaRPr lang="en-US" sz="1300"/>
          </a:p>
        </p:txBody>
      </p:sp>
      <p:sp>
        <p:nvSpPr>
          <p:cNvPr id="15" name="Shape 8"/>
          <p:cNvSpPr/>
          <p:nvPr/>
        </p:nvSpPr>
        <p:spPr>
          <a:xfrm>
            <a:off x="923544" y="2343607"/>
            <a:ext cx="6534302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923544" y="2072030"/>
            <a:ext cx="152705" cy="133502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52144" y="2048256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ID</a:t>
            </a:r>
            <a:endParaRPr lang="en-US" sz="1000"/>
          </a:p>
        </p:txBody>
      </p:sp>
      <p:sp>
        <p:nvSpPr>
          <p:cNvPr id="18" name="Shape 10"/>
          <p:cNvSpPr/>
          <p:nvPr/>
        </p:nvSpPr>
        <p:spPr>
          <a:xfrm>
            <a:off x="4287622" y="2048256"/>
            <a:ext cx="3172054" cy="209398"/>
          </a:xfrm>
          <a:prstGeom prst="roundRect">
            <a:avLst>
              <a:gd name="adj" fmla="val 158793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4287622" y="2048256"/>
            <a:ext cx="31720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RouteID 00143bdd-0a6b-49ec-bb35-36593d303e77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923544" y="2952598"/>
            <a:ext cx="6534302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923544" y="2681021"/>
            <a:ext cx="85954" cy="13350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86307" y="2657246"/>
            <a:ext cx="170627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Locations</a:t>
            </a:r>
            <a:endParaRPr lang="en-US" sz="1000"/>
          </a:p>
        </p:txBody>
      </p:sp>
      <p:sp>
        <p:nvSpPr>
          <p:cNvPr id="23" name="Text 14"/>
          <p:cNvSpPr txBox="1"/>
          <p:nvPr/>
        </p:nvSpPr>
        <p:spPr>
          <a:xfrm>
            <a:off x="6815938" y="2657246"/>
            <a:ext cx="8412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 nodes</a:t>
            </a:r>
            <a:endParaRPr lang="en-US" sz="1000"/>
          </a:p>
        </p:txBody>
      </p:sp>
      <p:sp>
        <p:nvSpPr>
          <p:cNvPr id="24" name="Shape 15"/>
          <p:cNvSpPr/>
          <p:nvPr/>
        </p:nvSpPr>
        <p:spPr>
          <a:xfrm>
            <a:off x="923544" y="3562502"/>
            <a:ext cx="6534302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923544" y="3290926"/>
            <a:ext cx="152705" cy="13350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152144" y="3267151"/>
            <a:ext cx="9015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Type</a:t>
            </a:r>
            <a:endParaRPr lang="en-US" sz="1000"/>
          </a:p>
        </p:txBody>
      </p:sp>
      <p:sp>
        <p:nvSpPr>
          <p:cNvPr id="27" name="Text 17"/>
          <p:cNvSpPr txBox="1"/>
          <p:nvPr/>
        </p:nvSpPr>
        <p:spPr>
          <a:xfrm>
            <a:off x="2521213" y="4172433"/>
            <a:ext cx="3343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4-nearest neighbors sparsified distance graph </a:t>
            </a:r>
            <a:endParaRPr lang="en-US" sz="100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923544" y="3900830"/>
            <a:ext cx="105156" cy="133502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104595" y="3877056"/>
            <a:ext cx="12508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Tour Cost</a:t>
            </a:r>
            <a:endParaRPr lang="en-US" sz="1000"/>
          </a:p>
        </p:txBody>
      </p:sp>
      <p:sp>
        <p:nvSpPr>
          <p:cNvPr id="30" name="Text 19"/>
          <p:cNvSpPr txBox="1"/>
          <p:nvPr/>
        </p:nvSpPr>
        <p:spPr>
          <a:xfrm>
            <a:off x="6961327" y="3877056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8088.40</a:t>
            </a:r>
            <a:endParaRPr lang="en-US" sz="1000"/>
          </a:p>
        </p:txBody>
      </p:sp>
      <p:sp>
        <p:nvSpPr>
          <p:cNvPr id="33" name="Text 21"/>
          <p:cNvSpPr txBox="1"/>
          <p:nvPr/>
        </p:nvSpPr>
        <p:spPr>
          <a:xfrm>
            <a:off x="2180844" y="3114292"/>
            <a:ext cx="4025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K=4 nearest neighbors graph for efficient connectivity</a:t>
            </a:r>
            <a:endParaRPr lang="en-US" sz="1100"/>
          </a:p>
        </p:txBody>
      </p:sp>
      <p:sp>
        <p:nvSpPr>
          <p:cNvPr id="34" name="Shape 22"/>
          <p:cNvSpPr/>
          <p:nvPr/>
        </p:nvSpPr>
        <p:spPr>
          <a:xfrm>
            <a:off x="8001000" y="952805"/>
            <a:ext cx="3581705" cy="340979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38744" y="1266444"/>
            <a:ext cx="304495" cy="304495"/>
          </a:xfrm>
          <a:prstGeom prst="rect">
            <a:avLst/>
          </a:prstGeom>
        </p:spPr>
      </p:pic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324698" y="1352398"/>
            <a:ext cx="133502" cy="133502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8658454" y="1304849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Metrics</a:t>
            </a:r>
            <a:endParaRPr lang="en-US" sz="130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8238744" y="1762049"/>
            <a:ext cx="1476756" cy="1067105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8391449" y="1990649"/>
            <a:ext cx="11722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</a:t>
            </a:r>
            <a:endParaRPr lang="en-US" sz="2100"/>
          </a:p>
        </p:txBody>
      </p:sp>
      <p:sp>
        <p:nvSpPr>
          <p:cNvPr id="40" name="Text 25"/>
          <p:cNvSpPr txBox="1"/>
          <p:nvPr/>
        </p:nvSpPr>
        <p:spPr>
          <a:xfrm>
            <a:off x="8391449" y="2419502"/>
            <a:ext cx="1172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</a:t>
            </a:r>
            <a:endParaRPr lang="en-US" sz="100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9868205" y="1762049"/>
            <a:ext cx="1476756" cy="1067105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10019995" y="1990649"/>
            <a:ext cx="11722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100"/>
          </a:p>
        </p:txBody>
      </p:sp>
      <p:sp>
        <p:nvSpPr>
          <p:cNvPr id="43" name="Text 27"/>
          <p:cNvSpPr txBox="1"/>
          <p:nvPr/>
        </p:nvSpPr>
        <p:spPr>
          <a:xfrm>
            <a:off x="10019995" y="2419502"/>
            <a:ext cx="1172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K-NN</a:t>
            </a:r>
            <a:endParaRPr lang="en-US" sz="100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8238744" y="2980944"/>
            <a:ext cx="1476756" cy="1067105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8391449" y="3209544"/>
            <a:ext cx="11722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8088</a:t>
            </a:r>
            <a:endParaRPr lang="en-US" sz="2100"/>
          </a:p>
        </p:txBody>
      </p:sp>
      <p:sp>
        <p:nvSpPr>
          <p:cNvPr id="46" name="Text 29"/>
          <p:cNvSpPr txBox="1"/>
          <p:nvPr/>
        </p:nvSpPr>
        <p:spPr>
          <a:xfrm>
            <a:off x="8391449" y="3638398"/>
            <a:ext cx="1172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000"/>
          </a:p>
        </p:txBody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9868205" y="2980944"/>
            <a:ext cx="1476756" cy="1067105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10019995" y="3209544"/>
            <a:ext cx="11722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</a:t>
            </a:r>
            <a:endParaRPr lang="en-US" sz="2100"/>
          </a:p>
        </p:txBody>
      </p:sp>
      <p:sp>
        <p:nvSpPr>
          <p:cNvPr id="49" name="Text 31"/>
          <p:cNvSpPr txBox="1"/>
          <p:nvPr/>
        </p:nvSpPr>
        <p:spPr>
          <a:xfrm>
            <a:off x="10019995" y="3638398"/>
            <a:ext cx="1172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Edges</a:t>
            </a:r>
            <a:endParaRPr lang="en-US" sz="1000"/>
          </a:p>
        </p:txBody>
      </p:sp>
      <p:sp>
        <p:nvSpPr>
          <p:cNvPr id="50" name="Shape 32"/>
          <p:cNvSpPr/>
          <p:nvPr/>
        </p:nvSpPr>
        <p:spPr>
          <a:xfrm>
            <a:off x="8001000" y="4591202"/>
            <a:ext cx="3581705" cy="2076602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38744" y="4905756"/>
            <a:ext cx="304495" cy="304495"/>
          </a:xfrm>
          <a:prstGeom prst="rect">
            <a:avLst/>
          </a:prstGeom>
        </p:spPr>
      </p:pic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24698" y="4990795"/>
            <a:ext cx="133502" cy="133502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8658454" y="4943246"/>
            <a:ext cx="15764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Properties</a:t>
            </a:r>
            <a:endParaRPr lang="en-US" sz="1300"/>
          </a:p>
        </p:txBody>
      </p:sp>
      <p:sp>
        <p:nvSpPr>
          <p:cNvPr id="54" name="Text 34"/>
          <p:cNvSpPr txBox="1"/>
          <p:nvPr/>
        </p:nvSpPr>
        <p:spPr>
          <a:xfrm>
            <a:off x="8543239" y="540044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Sparsified</a:t>
            </a:r>
            <a:r>
              <a:rPr lang="en-US" sz="11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efficiency</a:t>
            </a:r>
            <a:endParaRPr lang="en-US" sz="1100"/>
          </a:p>
        </p:txBody>
      </p:sp>
      <p:sp>
        <p:nvSpPr>
          <p:cNvPr id="55" name="Shape 35"/>
          <p:cNvSpPr/>
          <p:nvPr/>
        </p:nvSpPr>
        <p:spPr>
          <a:xfrm>
            <a:off x="8238744" y="5412334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8291779" y="5459882"/>
            <a:ext cx="85954" cy="95098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543239" y="5767121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</a:t>
            </a:r>
            <a:r>
              <a:rPr lang="en-US" sz="11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graph structure</a:t>
            </a:r>
            <a:endParaRPr lang="en-US" sz="1100"/>
          </a:p>
        </p:txBody>
      </p:sp>
      <p:sp>
        <p:nvSpPr>
          <p:cNvPr id="58" name="Shape 37"/>
          <p:cNvSpPr/>
          <p:nvPr/>
        </p:nvSpPr>
        <p:spPr>
          <a:xfrm>
            <a:off x="8238744" y="5779008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9" name="Image 19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8291779" y="5826557"/>
            <a:ext cx="85954" cy="95098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8543239" y="6133795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</a:t>
            </a:r>
            <a:r>
              <a:rPr lang="en-US" sz="11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delivery data</a:t>
            </a:r>
            <a:endParaRPr lang="en-US" sz="1100"/>
          </a:p>
        </p:txBody>
      </p:sp>
      <p:sp>
        <p:nvSpPr>
          <p:cNvPr id="61" name="Shape 39"/>
          <p:cNvSpPr/>
          <p:nvPr/>
        </p:nvSpPr>
        <p:spPr>
          <a:xfrm>
            <a:off x="8238744" y="6145682"/>
            <a:ext cx="190195" cy="19019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2" name="Image 20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8291779" y="6193231"/>
            <a:ext cx="85954" cy="95098"/>
          </a:xfrm>
          <a:prstGeom prst="rect">
            <a:avLst/>
          </a:prstGeom>
        </p:spPr>
      </p:pic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72507956-AA79-644A-427B-9609629525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2283" y="4346913"/>
            <a:ext cx="6166123" cy="2276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8269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Edge Importance Distribution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6467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 of edge importance scores across three tiers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609905" y="999439"/>
            <a:ext cx="7191756" cy="4525366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809244" y="1152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Importance Distribution</a:t>
            </a:r>
            <a:endParaRPr lang="en-US" sz="1300"/>
          </a:p>
        </p:txBody>
      </p:sp>
      <p:sp>
        <p:nvSpPr>
          <p:cNvPr id="12" name="Text 7"/>
          <p:cNvSpPr txBox="1"/>
          <p:nvPr/>
        </p:nvSpPr>
        <p:spPr>
          <a:xfrm>
            <a:off x="6521501" y="1185977"/>
            <a:ext cx="15233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119 edges analyzed </a:t>
            </a:r>
            <a:endParaRPr lang="en-US" sz="9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64224" y="1210666"/>
            <a:ext cx="123444" cy="123444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 l="-63" r="-63"/>
          <a:stretch/>
        </p:blipFill>
        <p:spPr>
          <a:xfrm>
            <a:off x="809244" y="1495044"/>
            <a:ext cx="6791249" cy="3372307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09244" y="4981651"/>
            <a:ext cx="6791249" cy="342900"/>
          </a:xfrm>
          <a:prstGeom prst="roundRect">
            <a:avLst>
              <a:gd name="adj" fmla="val 11851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905256" y="509595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1095451" y="5076749"/>
            <a:ext cx="14063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Top-10 Critical (5-6.8%)</a:t>
            </a:r>
            <a:endParaRPr lang="en-US" sz="900"/>
          </a:p>
        </p:txBody>
      </p:sp>
      <p:sp>
        <p:nvSpPr>
          <p:cNvPr id="18" name="Shape 11"/>
          <p:cNvSpPr/>
          <p:nvPr/>
        </p:nvSpPr>
        <p:spPr>
          <a:xfrm>
            <a:off x="2461565" y="509595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2651760" y="5076749"/>
            <a:ext cx="14173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Mid-Importance (1-4%)</a:t>
            </a:r>
            <a:endParaRPr lang="en-US" sz="900"/>
          </a:p>
        </p:txBody>
      </p:sp>
      <p:sp>
        <p:nvSpPr>
          <p:cNvPr id="20" name="Shape 13"/>
          <p:cNvSpPr/>
          <p:nvPr/>
        </p:nvSpPr>
        <p:spPr>
          <a:xfrm>
            <a:off x="4025189" y="509595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28A7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4216298" y="5076749"/>
            <a:ext cx="14849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Low-Importance (&lt;0.5%)</a:t>
            </a:r>
            <a:endParaRPr lang="en-US" sz="900"/>
          </a:p>
        </p:txBody>
      </p:sp>
      <p:sp>
        <p:nvSpPr>
          <p:cNvPr id="22" name="Shape 15"/>
          <p:cNvSpPr/>
          <p:nvPr/>
        </p:nvSpPr>
        <p:spPr>
          <a:xfrm>
            <a:off x="7988198" y="952805"/>
            <a:ext cx="3600907" cy="1380744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150047" y="1114654"/>
            <a:ext cx="267005" cy="267005"/>
          </a:xfrm>
          <a:prstGeom prst="roundRect">
            <a:avLst>
              <a:gd name="adj" fmla="val 195695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22285" y="1185977"/>
            <a:ext cx="123444" cy="1234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531352" y="1157630"/>
            <a:ext cx="14968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Top-10 Critical Edges</a:t>
            </a:r>
            <a:endParaRPr lang="en-US" sz="1000"/>
          </a:p>
        </p:txBody>
      </p:sp>
      <p:sp>
        <p:nvSpPr>
          <p:cNvPr id="26" name="Shape 18"/>
          <p:cNvSpPr/>
          <p:nvPr/>
        </p:nvSpPr>
        <p:spPr>
          <a:xfrm>
            <a:off x="8150047" y="1457554"/>
            <a:ext cx="3276295" cy="714146"/>
          </a:xfrm>
          <a:prstGeom prst="roundRect">
            <a:avLst>
              <a:gd name="adj" fmla="val 27315"/>
            </a:avLst>
          </a:prstGeom>
          <a:solidFill>
            <a:srgbClr val="F8F9FA"/>
          </a:solidFill>
          <a:ln/>
        </p:spPr>
      </p:sp>
      <p:sp>
        <p:nvSpPr>
          <p:cNvPr id="27" name="Shape 19"/>
          <p:cNvSpPr/>
          <p:nvPr/>
        </p:nvSpPr>
        <p:spPr>
          <a:xfrm>
            <a:off x="8150047" y="1457554"/>
            <a:ext cx="38405" cy="714146"/>
          </a:xfrm>
          <a:prstGeom prst="roundRect">
            <a:avLst>
              <a:gd name="adj" fmla="val 507934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283550" y="1707185"/>
            <a:ext cx="209398" cy="20939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 t="-870" b="-870"/>
          <a:stretch/>
        </p:blipFill>
        <p:spPr>
          <a:xfrm>
            <a:off x="8336585" y="1763878"/>
            <a:ext cx="105156" cy="9509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607247" y="1552651"/>
            <a:ext cx="2724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Range</a:t>
            </a:r>
            <a:endParaRPr lang="en-US" sz="900"/>
          </a:p>
        </p:txBody>
      </p:sp>
      <p:sp>
        <p:nvSpPr>
          <p:cNvPr id="31" name="Text 22"/>
          <p:cNvSpPr txBox="1"/>
          <p:nvPr/>
        </p:nvSpPr>
        <p:spPr>
          <a:xfrm>
            <a:off x="8607247" y="1744675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Importance: 0.050 - 0.068</a:t>
            </a:r>
            <a:endParaRPr lang="en-US" sz="900"/>
          </a:p>
        </p:txBody>
      </p:sp>
      <p:sp>
        <p:nvSpPr>
          <p:cNvPr id="32" name="Text 23"/>
          <p:cNvSpPr txBox="1"/>
          <p:nvPr/>
        </p:nvSpPr>
        <p:spPr>
          <a:xfrm>
            <a:off x="8607247" y="1923898"/>
            <a:ext cx="2724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+5-6.8% cost increase</a:t>
            </a:r>
            <a:endParaRPr lang="en-US" sz="800"/>
          </a:p>
        </p:txBody>
      </p:sp>
      <p:sp>
        <p:nvSpPr>
          <p:cNvPr id="33" name="Shape 24"/>
          <p:cNvSpPr/>
          <p:nvPr/>
        </p:nvSpPr>
        <p:spPr>
          <a:xfrm>
            <a:off x="7988198" y="2442362"/>
            <a:ext cx="3600907" cy="1380744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8150047" y="2604211"/>
            <a:ext cx="267005" cy="267005"/>
          </a:xfrm>
          <a:prstGeom prst="roundRect">
            <a:avLst>
              <a:gd name="adj" fmla="val 195695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2285" y="2675534"/>
            <a:ext cx="123444" cy="1234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531352" y="2647188"/>
            <a:ext cx="18443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Mid-Importance Edges</a:t>
            </a:r>
            <a:endParaRPr lang="en-US" sz="1000"/>
          </a:p>
        </p:txBody>
      </p:sp>
      <p:sp>
        <p:nvSpPr>
          <p:cNvPr id="37" name="Shape 27"/>
          <p:cNvSpPr/>
          <p:nvPr/>
        </p:nvSpPr>
        <p:spPr>
          <a:xfrm>
            <a:off x="8150047" y="2947111"/>
            <a:ext cx="3276295" cy="714146"/>
          </a:xfrm>
          <a:prstGeom prst="roundRect">
            <a:avLst>
              <a:gd name="adj" fmla="val 27315"/>
            </a:avLst>
          </a:prstGeom>
          <a:solidFill>
            <a:srgbClr val="F8F9FA"/>
          </a:solidFill>
          <a:ln/>
        </p:spPr>
      </p:sp>
      <p:sp>
        <p:nvSpPr>
          <p:cNvPr id="38" name="Shape 28"/>
          <p:cNvSpPr/>
          <p:nvPr/>
        </p:nvSpPr>
        <p:spPr>
          <a:xfrm>
            <a:off x="8150047" y="2947111"/>
            <a:ext cx="38405" cy="714146"/>
          </a:xfrm>
          <a:prstGeom prst="roundRect">
            <a:avLst>
              <a:gd name="adj" fmla="val 50793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8283550" y="3196742"/>
            <a:ext cx="209398" cy="20939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41157" y="3253435"/>
            <a:ext cx="95098" cy="95098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607247" y="3042209"/>
            <a:ext cx="2724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 Range</a:t>
            </a:r>
            <a:endParaRPr lang="en-US" sz="900"/>
          </a:p>
        </p:txBody>
      </p:sp>
      <p:sp>
        <p:nvSpPr>
          <p:cNvPr id="42" name="Text 31"/>
          <p:cNvSpPr txBox="1"/>
          <p:nvPr/>
        </p:nvSpPr>
        <p:spPr>
          <a:xfrm>
            <a:off x="8607247" y="3235147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Importance: 0.010 - 0.040</a:t>
            </a:r>
            <a:endParaRPr lang="en-US" sz="900"/>
          </a:p>
        </p:txBody>
      </p:sp>
      <p:sp>
        <p:nvSpPr>
          <p:cNvPr id="43" name="Text 32"/>
          <p:cNvSpPr txBox="1"/>
          <p:nvPr/>
        </p:nvSpPr>
        <p:spPr>
          <a:xfrm>
            <a:off x="8607247" y="3413455"/>
            <a:ext cx="2724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+1-4% cost increase</a:t>
            </a:r>
            <a:endParaRPr lang="en-US" sz="800"/>
          </a:p>
        </p:txBody>
      </p:sp>
      <p:sp>
        <p:nvSpPr>
          <p:cNvPr id="44" name="Shape 33"/>
          <p:cNvSpPr/>
          <p:nvPr/>
        </p:nvSpPr>
        <p:spPr>
          <a:xfrm>
            <a:off x="7988198" y="3931920"/>
            <a:ext cx="3600907" cy="1380744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8150047" y="4093769"/>
            <a:ext cx="267005" cy="267005"/>
          </a:xfrm>
          <a:prstGeom prst="roundRect">
            <a:avLst>
              <a:gd name="adj" fmla="val 195695"/>
            </a:avLst>
          </a:prstGeom>
          <a:solidFill>
            <a:srgbClr val="28A7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22285" y="4165092"/>
            <a:ext cx="123444" cy="123444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8531352" y="4136746"/>
            <a:ext cx="18443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Low-Importance Edges</a:t>
            </a:r>
            <a:endParaRPr lang="en-US" sz="1000"/>
          </a:p>
        </p:txBody>
      </p:sp>
      <p:sp>
        <p:nvSpPr>
          <p:cNvPr id="48" name="Shape 36"/>
          <p:cNvSpPr/>
          <p:nvPr/>
        </p:nvSpPr>
        <p:spPr>
          <a:xfrm>
            <a:off x="8150047" y="4436669"/>
            <a:ext cx="3276295" cy="714146"/>
          </a:xfrm>
          <a:prstGeom prst="roundRect">
            <a:avLst>
              <a:gd name="adj" fmla="val 27315"/>
            </a:avLst>
          </a:prstGeom>
          <a:solidFill>
            <a:srgbClr val="F8F9FA"/>
          </a:solidFill>
          <a:ln/>
        </p:spPr>
      </p:sp>
      <p:sp>
        <p:nvSpPr>
          <p:cNvPr id="49" name="Shape 37"/>
          <p:cNvSpPr/>
          <p:nvPr/>
        </p:nvSpPr>
        <p:spPr>
          <a:xfrm>
            <a:off x="8150047" y="4436669"/>
            <a:ext cx="38405" cy="714146"/>
          </a:xfrm>
          <a:prstGeom prst="roundRect">
            <a:avLst>
              <a:gd name="adj" fmla="val 507934"/>
            </a:avLst>
          </a:prstGeom>
          <a:solidFill>
            <a:srgbClr val="28A745"/>
          </a:solidFill>
          <a:ln w="12700">
            <a:solidFill>
              <a:srgbClr val="28A745">
                <a:alpha val="0"/>
              </a:srgbClr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8283550" y="4686300"/>
            <a:ext cx="209398" cy="20939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1"/>
          <a:srcRect l="-1648" r="-1648"/>
          <a:stretch/>
        </p:blipFill>
        <p:spPr>
          <a:xfrm>
            <a:off x="8345729" y="4743907"/>
            <a:ext cx="85954" cy="95098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8607247" y="4531766"/>
            <a:ext cx="2724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Range</a:t>
            </a:r>
            <a:endParaRPr lang="en-US" sz="900"/>
          </a:p>
        </p:txBody>
      </p:sp>
      <p:sp>
        <p:nvSpPr>
          <p:cNvPr id="53" name="Text 40"/>
          <p:cNvSpPr txBox="1"/>
          <p:nvPr/>
        </p:nvSpPr>
        <p:spPr>
          <a:xfrm>
            <a:off x="8607247" y="4724705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Importance: &lt;0.005</a:t>
            </a:r>
            <a:endParaRPr lang="en-US" sz="900"/>
          </a:p>
        </p:txBody>
      </p:sp>
      <p:sp>
        <p:nvSpPr>
          <p:cNvPr id="54" name="Text 41"/>
          <p:cNvSpPr txBox="1"/>
          <p:nvPr/>
        </p:nvSpPr>
        <p:spPr>
          <a:xfrm>
            <a:off x="8607247" y="4903927"/>
            <a:ext cx="2724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&lt;0.5% cost increase</a:t>
            </a:r>
            <a:endParaRPr lang="en-US" sz="800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2"/>
          <a:srcRect t="-28" b="-28"/>
          <a:stretch/>
        </p:blipFill>
        <p:spPr>
          <a:xfrm>
            <a:off x="609905" y="5829300"/>
            <a:ext cx="2628900" cy="676656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724205" y="5943600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</a:t>
            </a:r>
            <a:endParaRPr lang="en-US" sz="1500"/>
          </a:p>
        </p:txBody>
      </p:sp>
      <p:sp>
        <p:nvSpPr>
          <p:cNvPr id="57" name="Text 43"/>
          <p:cNvSpPr txBox="1"/>
          <p:nvPr/>
        </p:nvSpPr>
        <p:spPr>
          <a:xfrm>
            <a:off x="724205" y="6238951"/>
            <a:ext cx="2400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Edges</a:t>
            </a:r>
            <a:endParaRPr lang="en-US" sz="90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2"/>
          <a:srcRect t="-28" b="-28"/>
          <a:stretch/>
        </p:blipFill>
        <p:spPr>
          <a:xfrm>
            <a:off x="3390595" y="5829300"/>
            <a:ext cx="2628900" cy="676656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3504895" y="5943600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1500"/>
          </a:p>
        </p:txBody>
      </p:sp>
      <p:sp>
        <p:nvSpPr>
          <p:cNvPr id="60" name="Text 45"/>
          <p:cNvSpPr txBox="1"/>
          <p:nvPr/>
        </p:nvSpPr>
        <p:spPr>
          <a:xfrm>
            <a:off x="3504895" y="6238951"/>
            <a:ext cx="2400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Low-Importance</a:t>
            </a:r>
            <a:endParaRPr lang="en-US" sz="90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2"/>
          <a:srcRect t="-28" b="-28"/>
          <a:stretch/>
        </p:blipFill>
        <p:spPr>
          <a:xfrm>
            <a:off x="6172200" y="5829300"/>
            <a:ext cx="2628900" cy="676656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6286500" y="5943600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1500"/>
          </a:p>
        </p:txBody>
      </p:sp>
      <p:sp>
        <p:nvSpPr>
          <p:cNvPr id="63" name="Text 47"/>
          <p:cNvSpPr txBox="1"/>
          <p:nvPr/>
        </p:nvSpPr>
        <p:spPr>
          <a:xfrm>
            <a:off x="6286500" y="6238951"/>
            <a:ext cx="2400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Mid-Importance</a:t>
            </a:r>
            <a:endParaRPr lang="en-US" sz="900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2"/>
          <a:srcRect t="-28" b="-28"/>
          <a:stretch/>
        </p:blipFill>
        <p:spPr>
          <a:xfrm>
            <a:off x="8953805" y="5829300"/>
            <a:ext cx="2628900" cy="676656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9068105" y="5943600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1500"/>
          </a:p>
        </p:txBody>
      </p:sp>
      <p:sp>
        <p:nvSpPr>
          <p:cNvPr id="66" name="Text 49"/>
          <p:cNvSpPr txBox="1"/>
          <p:nvPr/>
        </p:nvSpPr>
        <p:spPr>
          <a:xfrm>
            <a:off x="9068105" y="6238951"/>
            <a:ext cx="2400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High-Importance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304495"/>
            <a:ext cx="76315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6445F"/>
                </a:solidFill>
                <a:latin typeface="Segoe UI"/>
                <a:ea typeface="Segoe UI" pitchFamily="34" charset="-122"/>
                <a:cs typeface="Segoe UI"/>
              </a:rPr>
              <a:t>Results </a:t>
            </a:r>
            <a:r>
              <a:rPr lang="en-US" sz="2700" b="1">
                <a:solidFill>
                  <a:srgbClr val="1A1A2E"/>
                </a:solidFill>
                <a:latin typeface="Segoe UI"/>
                <a:ea typeface="Segoe UI" pitchFamily="34" charset="-122"/>
                <a:cs typeface="Segoe UI"/>
              </a:rPr>
              <a:t>— Computational Performance</a:t>
            </a:r>
            <a:endParaRPr lang="en-US" sz="2700">
              <a:latin typeface="Segoe UI"/>
              <a:cs typeface="Segoe UI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9905" y="838505"/>
            <a:ext cx="6238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metrics for Eval-1 edge importance computation</a:t>
            </a:r>
            <a:endParaRPr lang="en-US" sz="1300"/>
          </a:p>
        </p:txBody>
      </p:sp>
      <p:sp>
        <p:nvSpPr>
          <p:cNvPr id="10" name="Shape 5"/>
          <p:cNvSpPr/>
          <p:nvPr/>
        </p:nvSpPr>
        <p:spPr>
          <a:xfrm>
            <a:off x="609905" y="1238098"/>
            <a:ext cx="5333695" cy="5333695"/>
          </a:xfrm>
          <a:prstGeom prst="roundRect">
            <a:avLst>
              <a:gd name="adj" fmla="val 73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923544" y="2048256"/>
            <a:ext cx="4705502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1552651"/>
            <a:ext cx="342900" cy="3429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19556" y="1647749"/>
            <a:ext cx="152705" cy="1527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80744" y="1580998"/>
            <a:ext cx="234635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Metrics</a:t>
            </a:r>
            <a:endParaRPr lang="en-US" sz="1600"/>
          </a:p>
        </p:txBody>
      </p:sp>
      <p:sp>
        <p:nvSpPr>
          <p:cNvPr id="15" name="Shape 8"/>
          <p:cNvSpPr/>
          <p:nvPr/>
        </p:nvSpPr>
        <p:spPr>
          <a:xfrm>
            <a:off x="3542386" y="1576426"/>
            <a:ext cx="1019556" cy="295351"/>
          </a:xfrm>
          <a:prstGeom prst="roundRect">
            <a:avLst>
              <a:gd name="adj" fmla="val 119844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3656686" y="1657807"/>
            <a:ext cx="114300" cy="133502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3827678" y="1576426"/>
            <a:ext cx="6199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</a:t>
            </a:r>
            <a:endParaRPr lang="en-US" sz="1000"/>
          </a:p>
        </p:txBody>
      </p:sp>
      <p:sp>
        <p:nvSpPr>
          <p:cNvPr id="18" name="Shape 10"/>
          <p:cNvSpPr/>
          <p:nvPr/>
        </p:nvSpPr>
        <p:spPr>
          <a:xfrm>
            <a:off x="923544" y="2371954"/>
            <a:ext cx="4705502" cy="800100"/>
          </a:xfrm>
          <a:prstGeom prst="roundRect">
            <a:avLst>
              <a:gd name="adj" fmla="val 21769"/>
            </a:avLst>
          </a:prstGeom>
          <a:solidFill>
            <a:srgbClr val="F8F9FA"/>
          </a:solidFill>
          <a:ln/>
        </p:spPr>
      </p:sp>
      <p:sp>
        <p:nvSpPr>
          <p:cNvPr id="19" name="Shape 11"/>
          <p:cNvSpPr/>
          <p:nvPr/>
        </p:nvSpPr>
        <p:spPr>
          <a:xfrm>
            <a:off x="923544" y="2371954"/>
            <a:ext cx="38405" cy="800100"/>
          </a:xfrm>
          <a:prstGeom prst="roundRect">
            <a:avLst>
              <a:gd name="adj" fmla="val 453512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52144" y="2562149"/>
            <a:ext cx="418795" cy="418795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76502" y="2686507"/>
            <a:ext cx="171907" cy="171907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723644" y="2562149"/>
            <a:ext cx="18644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TSP Solve Time</a:t>
            </a:r>
            <a:endParaRPr lang="en-US" sz="1200"/>
          </a:p>
        </p:txBody>
      </p:sp>
      <p:sp>
        <p:nvSpPr>
          <p:cNvPr id="23" name="Text 13"/>
          <p:cNvSpPr txBox="1"/>
          <p:nvPr/>
        </p:nvSpPr>
        <p:spPr>
          <a:xfrm>
            <a:off x="1723644" y="2800807"/>
            <a:ext cx="20409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LKH-3 solver with warm-start</a:t>
            </a:r>
            <a:endParaRPr lang="en-US" sz="1000"/>
          </a:p>
        </p:txBody>
      </p:sp>
      <p:sp>
        <p:nvSpPr>
          <p:cNvPr id="24" name="Text 14"/>
          <p:cNvSpPr txBox="1"/>
          <p:nvPr/>
        </p:nvSpPr>
        <p:spPr>
          <a:xfrm>
            <a:off x="5020970" y="2628900"/>
            <a:ext cx="49926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2-5s</a:t>
            </a:r>
            <a:endParaRPr lang="en-US" sz="1600"/>
          </a:p>
        </p:txBody>
      </p:sp>
      <p:sp>
        <p:nvSpPr>
          <p:cNvPr id="25" name="Shape 15"/>
          <p:cNvSpPr/>
          <p:nvPr/>
        </p:nvSpPr>
        <p:spPr>
          <a:xfrm>
            <a:off x="923544" y="3400654"/>
            <a:ext cx="4705502" cy="800100"/>
          </a:xfrm>
          <a:prstGeom prst="roundRect">
            <a:avLst>
              <a:gd name="adj" fmla="val 21769"/>
            </a:avLst>
          </a:prstGeom>
          <a:solidFill>
            <a:srgbClr val="F8F9FA"/>
          </a:solidFill>
          <a:ln/>
        </p:spPr>
      </p:sp>
      <p:sp>
        <p:nvSpPr>
          <p:cNvPr id="26" name="Shape 16"/>
          <p:cNvSpPr/>
          <p:nvPr/>
        </p:nvSpPr>
        <p:spPr>
          <a:xfrm>
            <a:off x="923544" y="3400654"/>
            <a:ext cx="38405" cy="800100"/>
          </a:xfrm>
          <a:prstGeom prst="roundRect">
            <a:avLst>
              <a:gd name="adj" fmla="val 453512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52144" y="3590849"/>
            <a:ext cx="418795" cy="418795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1295705" y="3715207"/>
            <a:ext cx="133502" cy="171907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723644" y="3590849"/>
            <a:ext cx="19613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Eval-1 Runtime</a:t>
            </a:r>
            <a:endParaRPr lang="en-US" sz="1200"/>
          </a:p>
        </p:txBody>
      </p:sp>
      <p:sp>
        <p:nvSpPr>
          <p:cNvPr id="30" name="Text 18"/>
          <p:cNvSpPr txBox="1"/>
          <p:nvPr/>
        </p:nvSpPr>
        <p:spPr>
          <a:xfrm>
            <a:off x="1723644" y="3829507"/>
            <a:ext cx="21204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119-node instance (7 workers)</a:t>
            </a:r>
            <a:endParaRPr lang="en-US" sz="1000"/>
          </a:p>
        </p:txBody>
      </p:sp>
      <p:sp>
        <p:nvSpPr>
          <p:cNvPr id="31" name="Text 19"/>
          <p:cNvSpPr txBox="1"/>
          <p:nvPr/>
        </p:nvSpPr>
        <p:spPr>
          <a:xfrm>
            <a:off x="4734763" y="3657600"/>
            <a:ext cx="80833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3-5min</a:t>
            </a:r>
            <a:endParaRPr lang="en-US" sz="1600"/>
          </a:p>
        </p:txBody>
      </p:sp>
      <p:sp>
        <p:nvSpPr>
          <p:cNvPr id="32" name="Shape 20"/>
          <p:cNvSpPr/>
          <p:nvPr/>
        </p:nvSpPr>
        <p:spPr>
          <a:xfrm>
            <a:off x="923544" y="4429354"/>
            <a:ext cx="4705502" cy="800100"/>
          </a:xfrm>
          <a:prstGeom prst="roundRect">
            <a:avLst>
              <a:gd name="adj" fmla="val 21769"/>
            </a:avLst>
          </a:prstGeom>
          <a:solidFill>
            <a:srgbClr val="F8F9FA"/>
          </a:solidFill>
          <a:ln/>
        </p:spPr>
      </p:sp>
      <p:sp>
        <p:nvSpPr>
          <p:cNvPr id="33" name="Shape 21"/>
          <p:cNvSpPr/>
          <p:nvPr/>
        </p:nvSpPr>
        <p:spPr>
          <a:xfrm>
            <a:off x="923544" y="4429354"/>
            <a:ext cx="38405" cy="800100"/>
          </a:xfrm>
          <a:prstGeom prst="roundRect">
            <a:avLst>
              <a:gd name="adj" fmla="val 453512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52144" y="4619549"/>
            <a:ext cx="418795" cy="418795"/>
          </a:xfrm>
          <a:prstGeom prst="rect">
            <a:avLst/>
          </a:prstGeom>
        </p:spPr>
      </p:pic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276502" y="4743907"/>
            <a:ext cx="171907" cy="171907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1723644" y="4619549"/>
            <a:ext cx="17053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 Speedup</a:t>
            </a:r>
            <a:endParaRPr lang="en-US" sz="1200"/>
          </a:p>
        </p:txBody>
      </p:sp>
      <p:sp>
        <p:nvSpPr>
          <p:cNvPr id="37" name="Text 23"/>
          <p:cNvSpPr txBox="1"/>
          <p:nvPr/>
        </p:nvSpPr>
        <p:spPr>
          <a:xfrm>
            <a:off x="1723644" y="4858207"/>
            <a:ext cx="2029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~3× reduction in solver trials</a:t>
            </a:r>
            <a:endParaRPr lang="en-US" sz="1000"/>
          </a:p>
        </p:txBody>
      </p:sp>
      <p:sp>
        <p:nvSpPr>
          <p:cNvPr id="38" name="Text 24"/>
          <p:cNvSpPr txBox="1"/>
          <p:nvPr/>
        </p:nvSpPr>
        <p:spPr>
          <a:xfrm>
            <a:off x="5170018" y="4686300"/>
            <a:ext cx="2770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1600"/>
          </a:p>
        </p:txBody>
      </p:sp>
      <p:sp>
        <p:nvSpPr>
          <p:cNvPr id="39" name="Shape 25"/>
          <p:cNvSpPr/>
          <p:nvPr/>
        </p:nvSpPr>
        <p:spPr>
          <a:xfrm>
            <a:off x="923544" y="5458054"/>
            <a:ext cx="4705502" cy="800100"/>
          </a:xfrm>
          <a:prstGeom prst="roundRect">
            <a:avLst>
              <a:gd name="adj" fmla="val 21769"/>
            </a:avLst>
          </a:prstGeom>
          <a:solidFill>
            <a:srgbClr val="F8F9FA"/>
          </a:solidFill>
          <a:ln/>
        </p:spPr>
      </p:sp>
      <p:sp>
        <p:nvSpPr>
          <p:cNvPr id="40" name="Shape 26"/>
          <p:cNvSpPr/>
          <p:nvPr/>
        </p:nvSpPr>
        <p:spPr>
          <a:xfrm>
            <a:off x="923544" y="5458054"/>
            <a:ext cx="38405" cy="800100"/>
          </a:xfrm>
          <a:prstGeom prst="roundRect">
            <a:avLst>
              <a:gd name="adj" fmla="val 453512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52144" y="5648249"/>
            <a:ext cx="418795" cy="418795"/>
          </a:xfrm>
          <a:prstGeom prst="rect">
            <a:avLst/>
          </a:prstGeom>
        </p:spPr>
      </p:pic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276502" y="5772607"/>
            <a:ext cx="171907" cy="171907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1723644" y="5648249"/>
            <a:ext cx="2029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Parallelization</a:t>
            </a:r>
            <a:endParaRPr lang="en-US" sz="1200"/>
          </a:p>
        </p:txBody>
      </p:sp>
      <p:sp>
        <p:nvSpPr>
          <p:cNvPr id="44" name="Text 28"/>
          <p:cNvSpPr txBox="1"/>
          <p:nvPr/>
        </p:nvSpPr>
        <p:spPr>
          <a:xfrm>
            <a:off x="1723644" y="5886907"/>
            <a:ext cx="2414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Near-linear scaling with CPU cores</a:t>
            </a:r>
            <a:endParaRPr lang="en-US" sz="1000"/>
          </a:p>
        </p:txBody>
      </p:sp>
      <p:sp>
        <p:nvSpPr>
          <p:cNvPr id="45" name="Text 29"/>
          <p:cNvSpPr txBox="1"/>
          <p:nvPr/>
        </p:nvSpPr>
        <p:spPr>
          <a:xfrm>
            <a:off x="4478731" y="5715000"/>
            <a:ext cx="114482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workers</a:t>
            </a:r>
            <a:endParaRPr lang="en-US" sz="1600"/>
          </a:p>
        </p:txBody>
      </p:sp>
      <p:sp>
        <p:nvSpPr>
          <p:cNvPr id="46" name="Shape 30"/>
          <p:cNvSpPr/>
          <p:nvPr/>
        </p:nvSpPr>
        <p:spPr>
          <a:xfrm>
            <a:off x="6248095" y="1238098"/>
            <a:ext cx="5333695" cy="5333695"/>
          </a:xfrm>
          <a:prstGeom prst="roundRect">
            <a:avLst>
              <a:gd name="adj" fmla="val 73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47" name="Shape 31"/>
          <p:cNvSpPr/>
          <p:nvPr/>
        </p:nvSpPr>
        <p:spPr>
          <a:xfrm>
            <a:off x="6562649" y="2048256"/>
            <a:ext cx="4705502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62649" y="1552651"/>
            <a:ext cx="342900" cy="342900"/>
          </a:xfrm>
          <a:prstGeom prst="rect">
            <a:avLst/>
          </a:prstGeom>
        </p:spPr>
      </p:pic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57746" y="1647749"/>
            <a:ext cx="152705" cy="152705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7019849" y="1580998"/>
            <a:ext cx="20638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Efficiency Analysis</a:t>
            </a:r>
            <a:endParaRPr lang="en-US" sz="1600"/>
          </a:p>
        </p:txBody>
      </p:sp>
      <p:sp>
        <p:nvSpPr>
          <p:cNvPr id="51" name="Shape 33"/>
          <p:cNvSpPr/>
          <p:nvPr/>
        </p:nvSpPr>
        <p:spPr>
          <a:xfrm>
            <a:off x="6562649" y="2371954"/>
            <a:ext cx="2257654" cy="905256"/>
          </a:xfrm>
          <a:prstGeom prst="roundRect">
            <a:avLst>
              <a:gd name="adj" fmla="val 17012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715354" y="2633472"/>
            <a:ext cx="381305" cy="381305"/>
          </a:xfrm>
          <a:prstGeom prst="rect">
            <a:avLst/>
          </a:prstGeom>
        </p:spPr>
      </p:pic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4"/>
          <a:srcRect l="-33" r="-33"/>
          <a:stretch/>
        </p:blipFill>
        <p:spPr>
          <a:xfrm>
            <a:off x="6819595" y="2747772"/>
            <a:ext cx="171907" cy="152705"/>
          </a:xfrm>
          <a:prstGeom prst="rect">
            <a:avLst/>
          </a:prstGeom>
        </p:spPr>
      </p:pic>
      <p:sp>
        <p:nvSpPr>
          <p:cNvPr id="54" name="Text 34"/>
          <p:cNvSpPr txBox="1"/>
          <p:nvPr/>
        </p:nvSpPr>
        <p:spPr>
          <a:xfrm>
            <a:off x="7248449" y="2523744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Usage</a:t>
            </a:r>
            <a:endParaRPr lang="en-US" sz="1200"/>
          </a:p>
        </p:txBody>
      </p:sp>
      <p:sp>
        <p:nvSpPr>
          <p:cNvPr id="55" name="Text 35"/>
          <p:cNvSpPr txBox="1"/>
          <p:nvPr/>
        </p:nvSpPr>
        <p:spPr>
          <a:xfrm>
            <a:off x="7248449" y="2762402"/>
            <a:ext cx="14200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 with shallow copies</a:t>
            </a:r>
            <a:endParaRPr lang="en-US" sz="1000"/>
          </a:p>
        </p:txBody>
      </p:sp>
      <p:sp>
        <p:nvSpPr>
          <p:cNvPr id="56" name="Shape 36"/>
          <p:cNvSpPr/>
          <p:nvPr/>
        </p:nvSpPr>
        <p:spPr>
          <a:xfrm>
            <a:off x="9010498" y="2371954"/>
            <a:ext cx="2257654" cy="905256"/>
          </a:xfrm>
          <a:prstGeom prst="roundRect">
            <a:avLst>
              <a:gd name="adj" fmla="val 17012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18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163202" y="2633472"/>
            <a:ext cx="381305" cy="381305"/>
          </a:xfrm>
          <a:prstGeom prst="rect">
            <a:avLst/>
          </a:prstGeom>
        </p:spPr>
      </p:pic>
      <p:sp>
        <p:nvSpPr>
          <p:cNvPr id="58" name="Text 37"/>
          <p:cNvSpPr txBox="1"/>
          <p:nvPr/>
        </p:nvSpPr>
        <p:spPr>
          <a:xfrm>
            <a:off x="9696298" y="2614270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Utilization</a:t>
            </a:r>
            <a:endParaRPr lang="en-US" sz="1200"/>
          </a:p>
        </p:txBody>
      </p:sp>
      <p:sp>
        <p:nvSpPr>
          <p:cNvPr id="59" name="Text 38"/>
          <p:cNvSpPr txBox="1"/>
          <p:nvPr/>
        </p:nvSpPr>
        <p:spPr>
          <a:xfrm>
            <a:off x="9696298" y="2852928"/>
            <a:ext cx="1420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cores active</a:t>
            </a:r>
            <a:endParaRPr lang="en-US" sz="1000"/>
          </a:p>
        </p:txBody>
      </p:sp>
      <p:sp>
        <p:nvSpPr>
          <p:cNvPr id="60" name="Shape 39"/>
          <p:cNvSpPr/>
          <p:nvPr/>
        </p:nvSpPr>
        <p:spPr>
          <a:xfrm>
            <a:off x="6562649" y="3467405"/>
            <a:ext cx="2257654" cy="905256"/>
          </a:xfrm>
          <a:prstGeom prst="roundRect">
            <a:avLst>
              <a:gd name="adj" fmla="val 17012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715354" y="3728923"/>
            <a:ext cx="381305" cy="381305"/>
          </a:xfrm>
          <a:prstGeom prst="rect">
            <a:avLst/>
          </a:prstGeom>
        </p:spPr>
      </p:pic>
      <p:pic>
        <p:nvPicPr>
          <p:cNvPr id="62" name="Image 20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6810451" y="3843223"/>
            <a:ext cx="190195" cy="152705"/>
          </a:xfrm>
          <a:prstGeom prst="rect">
            <a:avLst/>
          </a:prstGeom>
        </p:spPr>
      </p:pic>
      <p:sp>
        <p:nvSpPr>
          <p:cNvPr id="63" name="Text 40"/>
          <p:cNvSpPr txBox="1"/>
          <p:nvPr/>
        </p:nvSpPr>
        <p:spPr>
          <a:xfrm>
            <a:off x="7248449" y="3619195"/>
            <a:ext cx="1569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Overhead</a:t>
            </a:r>
            <a:endParaRPr lang="en-US" sz="1200"/>
          </a:p>
        </p:txBody>
      </p:sp>
      <p:sp>
        <p:nvSpPr>
          <p:cNvPr id="64" name="Text 41"/>
          <p:cNvSpPr txBox="1"/>
          <p:nvPr/>
        </p:nvSpPr>
        <p:spPr>
          <a:xfrm>
            <a:off x="7248449" y="3857854"/>
            <a:ext cx="14200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 (local processing)</a:t>
            </a:r>
            <a:endParaRPr lang="en-US" sz="1000"/>
          </a:p>
        </p:txBody>
      </p:sp>
      <p:sp>
        <p:nvSpPr>
          <p:cNvPr id="65" name="Shape 42"/>
          <p:cNvSpPr/>
          <p:nvPr/>
        </p:nvSpPr>
        <p:spPr>
          <a:xfrm>
            <a:off x="9010498" y="3467405"/>
            <a:ext cx="2257654" cy="905256"/>
          </a:xfrm>
          <a:prstGeom prst="roundRect">
            <a:avLst>
              <a:gd name="adj" fmla="val 17012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2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163202" y="3728923"/>
            <a:ext cx="381305" cy="381305"/>
          </a:xfrm>
          <a:prstGeom prst="rect">
            <a:avLst/>
          </a:prstGeom>
        </p:spPr>
      </p:pic>
      <p:pic>
        <p:nvPicPr>
          <p:cNvPr id="67" name="Image 22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9286646" y="3843223"/>
            <a:ext cx="133502" cy="152705"/>
          </a:xfrm>
          <a:prstGeom prst="rect">
            <a:avLst/>
          </a:prstGeom>
        </p:spPr>
      </p:pic>
      <p:sp>
        <p:nvSpPr>
          <p:cNvPr id="68" name="Text 43"/>
          <p:cNvSpPr txBox="1"/>
          <p:nvPr/>
        </p:nvSpPr>
        <p:spPr>
          <a:xfrm>
            <a:off x="9696298" y="3709721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Processing</a:t>
            </a:r>
            <a:endParaRPr lang="en-US" sz="1200"/>
          </a:p>
        </p:txBody>
      </p:sp>
      <p:sp>
        <p:nvSpPr>
          <p:cNvPr id="69" name="Text 44"/>
          <p:cNvSpPr txBox="1"/>
          <p:nvPr/>
        </p:nvSpPr>
        <p:spPr>
          <a:xfrm>
            <a:off x="9696298" y="3948379"/>
            <a:ext cx="17108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 nodes processed</a:t>
            </a:r>
            <a:endParaRPr lang="en-US" sz="1000"/>
          </a:p>
        </p:txBody>
      </p:sp>
      <p:pic>
        <p:nvPicPr>
          <p:cNvPr id="70" name="Image 23" descr="preencoded.png"/>
          <p:cNvPicPr>
            <a:picLocks noChangeAspect="1"/>
          </p:cNvPicPr>
          <p:nvPr/>
        </p:nvPicPr>
        <p:blipFill>
          <a:blip r:embed="rId17"/>
          <a:srcRect t="-25" b="-25"/>
          <a:stretch/>
        </p:blipFill>
        <p:spPr>
          <a:xfrm>
            <a:off x="6562649" y="5191049"/>
            <a:ext cx="1441094" cy="1067105"/>
          </a:xfrm>
          <a:prstGeom prst="rect">
            <a:avLst/>
          </a:prstGeom>
        </p:spPr>
      </p:pic>
      <p:sp>
        <p:nvSpPr>
          <p:cNvPr id="71" name="Text 45"/>
          <p:cNvSpPr txBox="1"/>
          <p:nvPr/>
        </p:nvSpPr>
        <p:spPr>
          <a:xfrm>
            <a:off x="6715354" y="5419649"/>
            <a:ext cx="1143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</a:t>
            </a:r>
            <a:endParaRPr lang="en-US" sz="2100"/>
          </a:p>
        </p:txBody>
      </p:sp>
      <p:sp>
        <p:nvSpPr>
          <p:cNvPr id="72" name="Text 46"/>
          <p:cNvSpPr txBox="1"/>
          <p:nvPr/>
        </p:nvSpPr>
        <p:spPr>
          <a:xfrm>
            <a:off x="6715354" y="5848502"/>
            <a:ext cx="1143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Trials</a:t>
            </a:r>
            <a:endParaRPr lang="en-US" sz="1000"/>
          </a:p>
        </p:txBody>
      </p:sp>
      <p:pic>
        <p:nvPicPr>
          <p:cNvPr id="73" name="Image 24" descr="preencoded.png"/>
          <p:cNvPicPr>
            <a:picLocks noChangeAspect="1"/>
          </p:cNvPicPr>
          <p:nvPr/>
        </p:nvPicPr>
        <p:blipFill>
          <a:blip r:embed="rId17"/>
          <a:srcRect t="-25" b="-25"/>
          <a:stretch/>
        </p:blipFill>
        <p:spPr>
          <a:xfrm>
            <a:off x="8194853" y="5191049"/>
            <a:ext cx="1441094" cy="1067105"/>
          </a:xfrm>
          <a:prstGeom prst="rect">
            <a:avLst/>
          </a:prstGeom>
        </p:spPr>
      </p:pic>
      <p:sp>
        <p:nvSpPr>
          <p:cNvPr id="74" name="Text 47"/>
          <p:cNvSpPr txBox="1"/>
          <p:nvPr/>
        </p:nvSpPr>
        <p:spPr>
          <a:xfrm>
            <a:off x="8346643" y="5419649"/>
            <a:ext cx="1143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100"/>
          </a:p>
        </p:txBody>
      </p:sp>
      <p:sp>
        <p:nvSpPr>
          <p:cNvPr id="75" name="Text 48"/>
          <p:cNvSpPr txBox="1"/>
          <p:nvPr/>
        </p:nvSpPr>
        <p:spPr>
          <a:xfrm>
            <a:off x="8346643" y="5848502"/>
            <a:ext cx="1143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</a:t>
            </a:r>
            <a:endParaRPr lang="en-US" sz="1000"/>
          </a:p>
        </p:txBody>
      </p:sp>
      <p:pic>
        <p:nvPicPr>
          <p:cNvPr id="76" name="Image 25" descr="preencoded.png"/>
          <p:cNvPicPr>
            <a:picLocks noChangeAspect="1"/>
          </p:cNvPicPr>
          <p:nvPr/>
        </p:nvPicPr>
        <p:blipFill>
          <a:blip r:embed="rId17"/>
          <a:srcRect t="-25" b="-25"/>
          <a:stretch/>
        </p:blipFill>
        <p:spPr>
          <a:xfrm>
            <a:off x="9826142" y="5191049"/>
            <a:ext cx="1441094" cy="1067105"/>
          </a:xfrm>
          <a:prstGeom prst="rect">
            <a:avLst/>
          </a:prstGeom>
        </p:spPr>
      </p:pic>
      <p:sp>
        <p:nvSpPr>
          <p:cNvPr id="77" name="Text 49"/>
          <p:cNvSpPr txBox="1"/>
          <p:nvPr/>
        </p:nvSpPr>
        <p:spPr>
          <a:xfrm>
            <a:off x="9978847" y="5419649"/>
            <a:ext cx="1143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2100"/>
          </a:p>
        </p:txBody>
      </p:sp>
      <p:sp>
        <p:nvSpPr>
          <p:cNvPr id="78" name="Text 50"/>
          <p:cNvSpPr txBox="1"/>
          <p:nvPr/>
        </p:nvSpPr>
        <p:spPr>
          <a:xfrm>
            <a:off x="9978847" y="5848502"/>
            <a:ext cx="1143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Speedup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026" y="-247487"/>
            <a:ext cx="12191695" cy="5985283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-247488"/>
            <a:ext cx="12165643" cy="710548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-26052" y="-249357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8533" y="-144606"/>
            <a:ext cx="4655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1A1A2E"/>
                </a:solidFill>
                <a:latin typeface="Segoe UI"/>
                <a:ea typeface="Segoe UI" pitchFamily="34" charset="-122"/>
                <a:cs typeface="Segoe UI"/>
              </a:rPr>
              <a:t>Roadmap</a:t>
            </a:r>
            <a:endParaRPr lang="en-US" sz="2700">
              <a:latin typeface="Segoe UI"/>
              <a:cs typeface="Segoe UI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96879" y="360071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key areas for continued development and research</a:t>
            </a:r>
            <a:endParaRPr lang="en-US" sz="1300"/>
          </a:p>
        </p:txBody>
      </p:sp>
      <p:sp>
        <p:nvSpPr>
          <p:cNvPr id="10" name="Shape 6"/>
          <p:cNvSpPr/>
          <p:nvPr/>
        </p:nvSpPr>
        <p:spPr>
          <a:xfrm>
            <a:off x="609905" y="760578"/>
            <a:ext cx="10972800" cy="613823"/>
          </a:xfrm>
          <a:prstGeom prst="roundRect">
            <a:avLst>
              <a:gd name="adj" fmla="val 420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7649" y="922427"/>
            <a:ext cx="381305" cy="329203"/>
          </a:xfrm>
          <a:prstGeom prst="roundRect">
            <a:avLst>
              <a:gd name="adj" fmla="val 959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805" y="1026668"/>
            <a:ext cx="171907" cy="15236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43254" y="946201"/>
            <a:ext cx="2581351" cy="1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Completed: Eval-1 Framework</a:t>
            </a:r>
            <a:endParaRPr lang="en-US" sz="1000"/>
          </a:p>
        </p:txBody>
      </p:sp>
      <p:sp>
        <p:nvSpPr>
          <p:cNvPr id="14" name="Text 9"/>
          <p:cNvSpPr txBox="1"/>
          <p:nvPr/>
        </p:nvSpPr>
        <p:spPr>
          <a:xfrm>
            <a:off x="1343254" y="1127252"/>
            <a:ext cx="3072384" cy="13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Ground-truth edge importance for base tour edges</a:t>
            </a:r>
            <a:endParaRPr lang="en-US" sz="900"/>
          </a:p>
        </p:txBody>
      </p:sp>
      <p:sp>
        <p:nvSpPr>
          <p:cNvPr id="15" name="Shape 10"/>
          <p:cNvSpPr/>
          <p:nvPr/>
        </p:nvSpPr>
        <p:spPr>
          <a:xfrm>
            <a:off x="9090050" y="922427"/>
            <a:ext cx="381305" cy="329203"/>
          </a:xfrm>
          <a:prstGeom prst="roundRect">
            <a:avLst>
              <a:gd name="adj" fmla="val 95923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95206" y="1026668"/>
            <a:ext cx="171907" cy="15236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585655" y="946201"/>
            <a:ext cx="2097634" cy="1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Predictor Development</a:t>
            </a:r>
            <a:endParaRPr lang="en-US" sz="1000"/>
          </a:p>
        </p:txBody>
      </p:sp>
      <p:sp>
        <p:nvSpPr>
          <p:cNvPr id="18" name="Text 12"/>
          <p:cNvSpPr txBox="1"/>
          <p:nvPr/>
        </p:nvSpPr>
        <p:spPr>
          <a:xfrm>
            <a:off x="9585655" y="1127252"/>
            <a:ext cx="2097634" cy="13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LLM-based importance prediction</a:t>
            </a:r>
            <a:endParaRPr lang="en-US" sz="900"/>
          </a:p>
        </p:txBody>
      </p:sp>
      <p:sp>
        <p:nvSpPr>
          <p:cNvPr id="19" name="Shape 13"/>
          <p:cNvSpPr/>
          <p:nvPr/>
        </p:nvSpPr>
        <p:spPr>
          <a:xfrm>
            <a:off x="596879" y="1503386"/>
            <a:ext cx="3504895" cy="241950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4623" y="1741130"/>
            <a:ext cx="304495" cy="304495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0576" y="1827084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253418" y="1794165"/>
            <a:ext cx="20747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Predictor Development</a:t>
            </a:r>
            <a:endParaRPr lang="en-US" sz="1200"/>
          </a:p>
        </p:txBody>
      </p:sp>
      <p:sp>
        <p:nvSpPr>
          <p:cNvPr id="23" name="Text 15"/>
          <p:cNvSpPr txBox="1"/>
          <p:nvPr/>
        </p:nvSpPr>
        <p:spPr>
          <a:xfrm>
            <a:off x="1082425" y="2198330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LLM-based importance predictor</a:t>
            </a:r>
            <a:endParaRPr lang="en-US" sz="900"/>
          </a:p>
        </p:txBody>
      </p:sp>
      <p:sp>
        <p:nvSpPr>
          <p:cNvPr id="24" name="Shape 16"/>
          <p:cNvSpPr/>
          <p:nvPr/>
        </p:nvSpPr>
        <p:spPr>
          <a:xfrm>
            <a:off x="834623" y="221753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73028" y="2251365"/>
            <a:ext cx="75895" cy="8595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82425" y="2479965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design &amp; output parser</a:t>
            </a:r>
            <a:endParaRPr lang="en-US" sz="900"/>
          </a:p>
        </p:txBody>
      </p:sp>
      <p:sp>
        <p:nvSpPr>
          <p:cNvPr id="27" name="Shape 18"/>
          <p:cNvSpPr/>
          <p:nvPr/>
        </p:nvSpPr>
        <p:spPr>
          <a:xfrm>
            <a:off x="834623" y="2499168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73028" y="2532086"/>
            <a:ext cx="75895" cy="8595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82425" y="2760686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Few-shot learning strategy</a:t>
            </a:r>
            <a:endParaRPr lang="en-US" sz="900"/>
          </a:p>
        </p:txBody>
      </p:sp>
      <p:sp>
        <p:nvSpPr>
          <p:cNvPr id="30" name="Shape 20"/>
          <p:cNvSpPr/>
          <p:nvPr/>
        </p:nvSpPr>
        <p:spPr>
          <a:xfrm>
            <a:off x="834623" y="2779888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73028" y="2812807"/>
            <a:ext cx="75895" cy="85954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082425" y="3041407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 &amp; alpha tuning</a:t>
            </a:r>
            <a:endParaRPr lang="en-US" sz="900"/>
          </a:p>
        </p:txBody>
      </p:sp>
      <p:sp>
        <p:nvSpPr>
          <p:cNvPr id="33" name="Shape 22"/>
          <p:cNvSpPr/>
          <p:nvPr/>
        </p:nvSpPr>
        <p:spPr>
          <a:xfrm>
            <a:off x="834623" y="3060609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73028" y="3094442"/>
            <a:ext cx="75895" cy="85954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4330374" y="1503386"/>
            <a:ext cx="3504895" cy="241950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68118" y="1741130"/>
            <a:ext cx="304495" cy="304495"/>
          </a:xfrm>
          <a:prstGeom prst="rect">
            <a:avLst/>
          </a:prstGeom>
        </p:spPr>
      </p:pic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54072" y="1827084"/>
            <a:ext cx="133502" cy="133502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4987828" y="1794165"/>
            <a:ext cx="18141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Routing Integration</a:t>
            </a:r>
            <a:endParaRPr lang="en-US" sz="1200"/>
          </a:p>
        </p:txBody>
      </p:sp>
      <p:sp>
        <p:nvSpPr>
          <p:cNvPr id="42" name="Text 27"/>
          <p:cNvSpPr txBox="1"/>
          <p:nvPr/>
        </p:nvSpPr>
        <p:spPr>
          <a:xfrm>
            <a:off x="4815920" y="2198330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modification &amp; re-routing</a:t>
            </a:r>
            <a:endParaRPr lang="en-US" sz="900"/>
          </a:p>
        </p:txBody>
      </p:sp>
      <p:sp>
        <p:nvSpPr>
          <p:cNvPr id="43" name="Shape 28"/>
          <p:cNvSpPr/>
          <p:nvPr/>
        </p:nvSpPr>
        <p:spPr>
          <a:xfrm>
            <a:off x="4568118" y="221753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4606523" y="2251365"/>
            <a:ext cx="75895" cy="85954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4815920" y="2479965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 optimization</a:t>
            </a:r>
            <a:endParaRPr lang="en-US" sz="900"/>
          </a:p>
        </p:txBody>
      </p:sp>
      <p:sp>
        <p:nvSpPr>
          <p:cNvPr id="46" name="Shape 30"/>
          <p:cNvSpPr/>
          <p:nvPr/>
        </p:nvSpPr>
        <p:spPr>
          <a:xfrm>
            <a:off x="4568118" y="2499168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4606523" y="2532086"/>
            <a:ext cx="75895" cy="85954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4815920" y="2760686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logging &amp; analysis</a:t>
            </a:r>
            <a:endParaRPr lang="en-US" sz="900"/>
          </a:p>
        </p:txBody>
      </p:sp>
      <p:sp>
        <p:nvSpPr>
          <p:cNvPr id="49" name="Shape 32"/>
          <p:cNvSpPr/>
          <p:nvPr/>
        </p:nvSpPr>
        <p:spPr>
          <a:xfrm>
            <a:off x="4568118" y="2779888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4606523" y="2812807"/>
            <a:ext cx="75895" cy="85954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4815920" y="3041407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 strategies</a:t>
            </a:r>
            <a:endParaRPr lang="en-US" sz="900"/>
          </a:p>
        </p:txBody>
      </p:sp>
      <p:sp>
        <p:nvSpPr>
          <p:cNvPr id="52" name="Shape 34"/>
          <p:cNvSpPr/>
          <p:nvPr/>
        </p:nvSpPr>
        <p:spPr>
          <a:xfrm>
            <a:off x="4568118" y="3060609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16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4606523" y="3094442"/>
            <a:ext cx="75895" cy="85954"/>
          </a:xfrm>
          <a:prstGeom prst="rect">
            <a:avLst/>
          </a:prstGeom>
        </p:spPr>
      </p:pic>
      <p:sp>
        <p:nvSpPr>
          <p:cNvPr id="57" name="Shape 37"/>
          <p:cNvSpPr/>
          <p:nvPr/>
        </p:nvSpPr>
        <p:spPr>
          <a:xfrm>
            <a:off x="8063869" y="1503386"/>
            <a:ext cx="3504895" cy="241950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8" name="Image 1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02528" y="1741130"/>
            <a:ext cx="304495" cy="304495"/>
          </a:xfrm>
          <a:prstGeom prst="rect">
            <a:avLst/>
          </a:prstGeom>
        </p:spPr>
      </p:pic>
      <p:pic>
        <p:nvPicPr>
          <p:cNvPr id="59" name="Image 1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388481" y="1827084"/>
            <a:ext cx="133502" cy="133502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8721323" y="1794165"/>
            <a:ext cx="17117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Evaluation Metrics</a:t>
            </a:r>
            <a:endParaRPr lang="en-US" sz="1200"/>
          </a:p>
        </p:txBody>
      </p:sp>
      <p:sp>
        <p:nvSpPr>
          <p:cNvPr id="61" name="Text 39"/>
          <p:cNvSpPr txBox="1"/>
          <p:nvPr/>
        </p:nvSpPr>
        <p:spPr>
          <a:xfrm>
            <a:off x="8550330" y="2198330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Spearman correlation (ρ)</a:t>
            </a:r>
            <a:endParaRPr lang="en-US" sz="900"/>
          </a:p>
        </p:txBody>
      </p:sp>
      <p:sp>
        <p:nvSpPr>
          <p:cNvPr id="62" name="Shape 40"/>
          <p:cNvSpPr/>
          <p:nvPr/>
        </p:nvSpPr>
        <p:spPr>
          <a:xfrm>
            <a:off x="8302528" y="221753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20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340018" y="2251365"/>
            <a:ext cx="75895" cy="85954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8550330" y="2479965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overlap analysis</a:t>
            </a:r>
            <a:endParaRPr lang="en-US" sz="900"/>
          </a:p>
        </p:txBody>
      </p:sp>
      <p:sp>
        <p:nvSpPr>
          <p:cNvPr id="65" name="Shape 42"/>
          <p:cNvSpPr/>
          <p:nvPr/>
        </p:nvSpPr>
        <p:spPr>
          <a:xfrm>
            <a:off x="8302528" y="2499168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21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340018" y="2532086"/>
            <a:ext cx="75895" cy="85954"/>
          </a:xfrm>
          <a:prstGeom prst="rect">
            <a:avLst/>
          </a:prstGeom>
        </p:spPr>
      </p:pic>
      <p:sp>
        <p:nvSpPr>
          <p:cNvPr id="67" name="Text 43"/>
          <p:cNvSpPr txBox="1"/>
          <p:nvPr/>
        </p:nvSpPr>
        <p:spPr>
          <a:xfrm>
            <a:off x="8550330" y="2760686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Kendall's τ metric</a:t>
            </a:r>
            <a:endParaRPr lang="en-US" sz="900"/>
          </a:p>
        </p:txBody>
      </p:sp>
      <p:sp>
        <p:nvSpPr>
          <p:cNvPr id="68" name="Shape 44"/>
          <p:cNvSpPr/>
          <p:nvPr/>
        </p:nvSpPr>
        <p:spPr>
          <a:xfrm>
            <a:off x="8302528" y="2779888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22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340018" y="2812807"/>
            <a:ext cx="75895" cy="85954"/>
          </a:xfrm>
          <a:prstGeom prst="rect">
            <a:avLst/>
          </a:prstGeom>
        </p:spPr>
      </p:pic>
      <p:sp>
        <p:nvSpPr>
          <p:cNvPr id="70" name="Text 45"/>
          <p:cNvSpPr txBox="1"/>
          <p:nvPr/>
        </p:nvSpPr>
        <p:spPr>
          <a:xfrm>
            <a:off x="8550330" y="3041407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Hyper-parameter sensitivity</a:t>
            </a:r>
            <a:endParaRPr lang="en-US" sz="900"/>
          </a:p>
        </p:txBody>
      </p:sp>
      <p:sp>
        <p:nvSpPr>
          <p:cNvPr id="71" name="Shape 46"/>
          <p:cNvSpPr/>
          <p:nvPr/>
        </p:nvSpPr>
        <p:spPr>
          <a:xfrm>
            <a:off x="8302528" y="3060609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23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340018" y="3094442"/>
            <a:ext cx="75895" cy="85954"/>
          </a:xfrm>
          <a:prstGeom prst="rect">
            <a:avLst/>
          </a:prstGeom>
        </p:spPr>
      </p:pic>
      <p:sp>
        <p:nvSpPr>
          <p:cNvPr id="76" name="Shape 49"/>
          <p:cNvSpPr/>
          <p:nvPr/>
        </p:nvSpPr>
        <p:spPr>
          <a:xfrm>
            <a:off x="596879" y="4208181"/>
            <a:ext cx="3504895" cy="241950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7" name="Image 2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4623" y="4446840"/>
            <a:ext cx="304495" cy="304495"/>
          </a:xfrm>
          <a:prstGeom prst="rect">
            <a:avLst/>
          </a:prstGeom>
        </p:spPr>
      </p:pic>
      <p:pic>
        <p:nvPicPr>
          <p:cNvPr id="78" name="Image 2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20576" y="4532793"/>
            <a:ext cx="133502" cy="133502"/>
          </a:xfrm>
          <a:prstGeom prst="rect">
            <a:avLst/>
          </a:prstGeom>
        </p:spPr>
      </p:pic>
      <p:sp>
        <p:nvSpPr>
          <p:cNvPr id="79" name="Text 50"/>
          <p:cNvSpPr txBox="1"/>
          <p:nvPr/>
        </p:nvSpPr>
        <p:spPr>
          <a:xfrm>
            <a:off x="1253418" y="4498960"/>
            <a:ext cx="17346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Scaling &amp; Learning</a:t>
            </a:r>
            <a:endParaRPr lang="en-US" sz="1200"/>
          </a:p>
        </p:txBody>
      </p:sp>
      <p:sp>
        <p:nvSpPr>
          <p:cNvPr id="80" name="Text 51"/>
          <p:cNvSpPr txBox="1"/>
          <p:nvPr/>
        </p:nvSpPr>
        <p:spPr>
          <a:xfrm>
            <a:off x="1082425" y="4904040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Multi-route parallelism</a:t>
            </a:r>
            <a:endParaRPr lang="en-US" sz="900"/>
          </a:p>
        </p:txBody>
      </p:sp>
      <p:sp>
        <p:nvSpPr>
          <p:cNvPr id="81" name="Shape 52"/>
          <p:cNvSpPr/>
          <p:nvPr/>
        </p:nvSpPr>
        <p:spPr>
          <a:xfrm>
            <a:off x="834623" y="492324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2" name="Image 27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73028" y="4956160"/>
            <a:ext cx="75895" cy="85954"/>
          </a:xfrm>
          <a:prstGeom prst="rect">
            <a:avLst/>
          </a:prstGeom>
        </p:spPr>
      </p:pic>
      <p:sp>
        <p:nvSpPr>
          <p:cNvPr id="83" name="Text 53"/>
          <p:cNvSpPr txBox="1"/>
          <p:nvPr/>
        </p:nvSpPr>
        <p:spPr>
          <a:xfrm>
            <a:off x="1082425" y="5184760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GNN-based predictors</a:t>
            </a:r>
            <a:endParaRPr lang="en-US" sz="900"/>
          </a:p>
        </p:txBody>
      </p:sp>
      <p:sp>
        <p:nvSpPr>
          <p:cNvPr id="84" name="Shape 54"/>
          <p:cNvSpPr/>
          <p:nvPr/>
        </p:nvSpPr>
        <p:spPr>
          <a:xfrm>
            <a:off x="834623" y="5203963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28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73028" y="5236881"/>
            <a:ext cx="75895" cy="85954"/>
          </a:xfrm>
          <a:prstGeom prst="rect">
            <a:avLst/>
          </a:prstGeom>
        </p:spPr>
      </p:pic>
      <p:sp>
        <p:nvSpPr>
          <p:cNvPr id="86" name="Text 55"/>
          <p:cNvSpPr txBox="1"/>
          <p:nvPr/>
        </p:nvSpPr>
        <p:spPr>
          <a:xfrm>
            <a:off x="1082425" y="5465481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Attention-based models</a:t>
            </a:r>
            <a:endParaRPr lang="en-US" sz="900"/>
          </a:p>
        </p:txBody>
      </p:sp>
      <p:sp>
        <p:nvSpPr>
          <p:cNvPr id="87" name="Shape 56"/>
          <p:cNvSpPr/>
          <p:nvPr/>
        </p:nvSpPr>
        <p:spPr>
          <a:xfrm>
            <a:off x="834623" y="548468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8" name="Image 29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73028" y="5518516"/>
            <a:ext cx="75895" cy="85954"/>
          </a:xfrm>
          <a:prstGeom prst="rect">
            <a:avLst/>
          </a:prstGeom>
        </p:spPr>
      </p:pic>
      <p:sp>
        <p:nvSpPr>
          <p:cNvPr id="89" name="Text 57"/>
          <p:cNvSpPr txBox="1"/>
          <p:nvPr/>
        </p:nvSpPr>
        <p:spPr>
          <a:xfrm>
            <a:off x="1082425" y="5747116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architectures</a:t>
            </a:r>
            <a:endParaRPr lang="en-US" sz="900"/>
          </a:p>
        </p:txBody>
      </p:sp>
      <p:sp>
        <p:nvSpPr>
          <p:cNvPr id="90" name="Shape 58"/>
          <p:cNvSpPr/>
          <p:nvPr/>
        </p:nvSpPr>
        <p:spPr>
          <a:xfrm>
            <a:off x="834623" y="576540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1" name="Image 30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73028" y="5799237"/>
            <a:ext cx="75895" cy="85954"/>
          </a:xfrm>
          <a:prstGeom prst="rect">
            <a:avLst/>
          </a:prstGeom>
        </p:spPr>
      </p:pic>
      <p:sp>
        <p:nvSpPr>
          <p:cNvPr id="95" name="Shape 61"/>
          <p:cNvSpPr/>
          <p:nvPr/>
        </p:nvSpPr>
        <p:spPr>
          <a:xfrm>
            <a:off x="4330374" y="4208181"/>
            <a:ext cx="3504895" cy="241950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6" name="Image 3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68118" y="4446840"/>
            <a:ext cx="304495" cy="304495"/>
          </a:xfrm>
          <a:prstGeom prst="rect">
            <a:avLst/>
          </a:prstGeom>
        </p:spPr>
      </p:pic>
      <p:pic>
        <p:nvPicPr>
          <p:cNvPr id="97" name="Image 3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54072" y="4532793"/>
            <a:ext cx="133502" cy="133502"/>
          </a:xfrm>
          <a:prstGeom prst="rect">
            <a:avLst/>
          </a:prstGeom>
        </p:spPr>
      </p:pic>
      <p:sp>
        <p:nvSpPr>
          <p:cNvPr id="98" name="Text 62"/>
          <p:cNvSpPr txBox="1"/>
          <p:nvPr/>
        </p:nvSpPr>
        <p:spPr>
          <a:xfrm>
            <a:off x="4987828" y="4498960"/>
            <a:ext cx="19504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Time-Dependent TSP</a:t>
            </a:r>
            <a:endParaRPr lang="en-US" sz="1200"/>
          </a:p>
        </p:txBody>
      </p:sp>
      <p:sp>
        <p:nvSpPr>
          <p:cNvPr id="99" name="Text 63"/>
          <p:cNvSpPr txBox="1"/>
          <p:nvPr/>
        </p:nvSpPr>
        <p:spPr>
          <a:xfrm>
            <a:off x="4815920" y="4904040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Time-expanded graphs</a:t>
            </a:r>
            <a:endParaRPr lang="en-US" sz="900"/>
          </a:p>
        </p:txBody>
      </p:sp>
      <p:sp>
        <p:nvSpPr>
          <p:cNvPr id="100" name="Shape 64"/>
          <p:cNvSpPr/>
          <p:nvPr/>
        </p:nvSpPr>
        <p:spPr>
          <a:xfrm>
            <a:off x="4568118" y="492324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1" name="Image 34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4606523" y="4956160"/>
            <a:ext cx="75895" cy="85954"/>
          </a:xfrm>
          <a:prstGeom prst="rect">
            <a:avLst/>
          </a:prstGeom>
        </p:spPr>
      </p:pic>
      <p:sp>
        <p:nvSpPr>
          <p:cNvPr id="102" name="Text 65"/>
          <p:cNvSpPr txBox="1"/>
          <p:nvPr/>
        </p:nvSpPr>
        <p:spPr>
          <a:xfrm>
            <a:off x="4815920" y="5184760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variability</a:t>
            </a:r>
            <a:endParaRPr lang="en-US" sz="900"/>
          </a:p>
        </p:txBody>
      </p:sp>
      <p:sp>
        <p:nvSpPr>
          <p:cNvPr id="103" name="Shape 66"/>
          <p:cNvSpPr/>
          <p:nvPr/>
        </p:nvSpPr>
        <p:spPr>
          <a:xfrm>
            <a:off x="4568118" y="5203963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4" name="Image 35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4606523" y="5236881"/>
            <a:ext cx="75895" cy="85954"/>
          </a:xfrm>
          <a:prstGeom prst="rect">
            <a:avLst/>
          </a:prstGeom>
        </p:spPr>
      </p:pic>
      <p:sp>
        <p:nvSpPr>
          <p:cNvPr id="105" name="Text 67"/>
          <p:cNvSpPr txBox="1"/>
          <p:nvPr/>
        </p:nvSpPr>
        <p:spPr>
          <a:xfrm>
            <a:off x="4815920" y="5465481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edge importance</a:t>
            </a:r>
            <a:endParaRPr lang="en-US" sz="900"/>
          </a:p>
        </p:txBody>
      </p:sp>
      <p:sp>
        <p:nvSpPr>
          <p:cNvPr id="106" name="Shape 68"/>
          <p:cNvSpPr/>
          <p:nvPr/>
        </p:nvSpPr>
        <p:spPr>
          <a:xfrm>
            <a:off x="4568118" y="548468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36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4606523" y="5518516"/>
            <a:ext cx="75895" cy="85954"/>
          </a:xfrm>
          <a:prstGeom prst="rect">
            <a:avLst/>
          </a:prstGeom>
        </p:spPr>
      </p:pic>
      <p:sp>
        <p:nvSpPr>
          <p:cNvPr id="108" name="Text 69"/>
          <p:cNvSpPr txBox="1"/>
          <p:nvPr/>
        </p:nvSpPr>
        <p:spPr>
          <a:xfrm>
            <a:off x="4815920" y="5747116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adaptation</a:t>
            </a:r>
            <a:endParaRPr lang="en-US" sz="900"/>
          </a:p>
        </p:txBody>
      </p:sp>
      <p:sp>
        <p:nvSpPr>
          <p:cNvPr id="109" name="Shape 70"/>
          <p:cNvSpPr/>
          <p:nvPr/>
        </p:nvSpPr>
        <p:spPr>
          <a:xfrm>
            <a:off x="4568118" y="576540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0" name="Image 37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4606523" y="5799237"/>
            <a:ext cx="75895" cy="85954"/>
          </a:xfrm>
          <a:prstGeom prst="rect">
            <a:avLst/>
          </a:prstGeom>
        </p:spPr>
      </p:pic>
      <p:sp>
        <p:nvSpPr>
          <p:cNvPr id="114" name="Shape 73"/>
          <p:cNvSpPr/>
          <p:nvPr/>
        </p:nvSpPr>
        <p:spPr>
          <a:xfrm>
            <a:off x="8063869" y="4208181"/>
            <a:ext cx="3504895" cy="241950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5" name="Image 3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02528" y="4446840"/>
            <a:ext cx="304495" cy="304495"/>
          </a:xfrm>
          <a:prstGeom prst="rect">
            <a:avLst/>
          </a:prstGeom>
        </p:spPr>
      </p:pic>
      <p:pic>
        <p:nvPicPr>
          <p:cNvPr id="116" name="Image 40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8369279" y="4532793"/>
            <a:ext cx="171907" cy="133502"/>
          </a:xfrm>
          <a:prstGeom prst="rect">
            <a:avLst/>
          </a:prstGeom>
        </p:spPr>
      </p:pic>
      <p:sp>
        <p:nvSpPr>
          <p:cNvPr id="117" name="Text 74"/>
          <p:cNvSpPr txBox="1"/>
          <p:nvPr/>
        </p:nvSpPr>
        <p:spPr>
          <a:xfrm>
            <a:off x="8721323" y="4498960"/>
            <a:ext cx="23125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Downstream Applications</a:t>
            </a:r>
            <a:endParaRPr lang="en-US" sz="1200"/>
          </a:p>
        </p:txBody>
      </p:sp>
      <p:sp>
        <p:nvSpPr>
          <p:cNvPr id="118" name="Text 75"/>
          <p:cNvSpPr txBox="1"/>
          <p:nvPr/>
        </p:nvSpPr>
        <p:spPr>
          <a:xfrm>
            <a:off x="8550330" y="4904040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pruning</a:t>
            </a:r>
            <a:endParaRPr lang="en-US" sz="900"/>
          </a:p>
        </p:txBody>
      </p:sp>
      <p:sp>
        <p:nvSpPr>
          <p:cNvPr id="119" name="Shape 76"/>
          <p:cNvSpPr/>
          <p:nvPr/>
        </p:nvSpPr>
        <p:spPr>
          <a:xfrm>
            <a:off x="8302528" y="4923242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0" name="Image 41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340018" y="4956160"/>
            <a:ext cx="75895" cy="85954"/>
          </a:xfrm>
          <a:prstGeom prst="rect">
            <a:avLst/>
          </a:prstGeom>
        </p:spPr>
      </p:pic>
      <p:sp>
        <p:nvSpPr>
          <p:cNvPr id="121" name="Text 77"/>
          <p:cNvSpPr txBox="1"/>
          <p:nvPr/>
        </p:nvSpPr>
        <p:spPr>
          <a:xfrm>
            <a:off x="8550330" y="5184760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routing</a:t>
            </a:r>
            <a:endParaRPr lang="en-US" sz="900"/>
          </a:p>
        </p:txBody>
      </p:sp>
      <p:sp>
        <p:nvSpPr>
          <p:cNvPr id="122" name="Shape 78"/>
          <p:cNvSpPr/>
          <p:nvPr/>
        </p:nvSpPr>
        <p:spPr>
          <a:xfrm>
            <a:off x="8302528" y="5203963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3" name="Image 42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340018" y="5236881"/>
            <a:ext cx="75895" cy="85954"/>
          </a:xfrm>
          <a:prstGeom prst="rect">
            <a:avLst/>
          </a:prstGeom>
        </p:spPr>
      </p:pic>
      <p:sp>
        <p:nvSpPr>
          <p:cNvPr id="124" name="Text 79"/>
          <p:cNvSpPr txBox="1"/>
          <p:nvPr/>
        </p:nvSpPr>
        <p:spPr>
          <a:xfrm>
            <a:off x="8550330" y="5465481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guidance</a:t>
            </a:r>
            <a:endParaRPr lang="en-US" sz="900"/>
          </a:p>
        </p:txBody>
      </p:sp>
      <p:sp>
        <p:nvSpPr>
          <p:cNvPr id="125" name="Shape 80"/>
          <p:cNvSpPr/>
          <p:nvPr/>
        </p:nvSpPr>
        <p:spPr>
          <a:xfrm>
            <a:off x="8302528" y="548468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6" name="Image 43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340018" y="5518516"/>
            <a:ext cx="75895" cy="85954"/>
          </a:xfrm>
          <a:prstGeom prst="rect">
            <a:avLst/>
          </a:prstGeom>
        </p:spPr>
      </p:pic>
      <p:sp>
        <p:nvSpPr>
          <p:cNvPr id="127" name="Text 81"/>
          <p:cNvSpPr txBox="1"/>
          <p:nvPr/>
        </p:nvSpPr>
        <p:spPr>
          <a:xfrm>
            <a:off x="8550330" y="5747116"/>
            <a:ext cx="2820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optimization</a:t>
            </a:r>
            <a:endParaRPr lang="en-US" sz="900"/>
          </a:p>
        </p:txBody>
      </p:sp>
      <p:sp>
        <p:nvSpPr>
          <p:cNvPr id="128" name="Shape 82"/>
          <p:cNvSpPr/>
          <p:nvPr/>
        </p:nvSpPr>
        <p:spPr>
          <a:xfrm>
            <a:off x="8302528" y="576540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9" name="Image 44" descr="preencoded.png"/>
          <p:cNvPicPr>
            <a:picLocks noChangeAspect="1"/>
          </p:cNvPicPr>
          <p:nvPr/>
        </p:nvPicPr>
        <p:blipFill>
          <a:blip r:embed="rId8"/>
          <a:srcRect l="-455" r="-455"/>
          <a:stretch/>
        </p:blipFill>
        <p:spPr>
          <a:xfrm>
            <a:off x="8340018" y="5799237"/>
            <a:ext cx="75895" cy="859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76315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6445F"/>
                </a:solidFill>
                <a:latin typeface="Segoe UI"/>
                <a:ea typeface="Segoe UI" pitchFamily="34" charset="-122"/>
                <a:cs typeface="Segoe UI"/>
              </a:rPr>
              <a:t>Predictor </a:t>
            </a:r>
            <a:r>
              <a:rPr lang="en-US" sz="2700" b="1">
                <a:solidFill>
                  <a:srgbClr val="1A1A2E"/>
                </a:solidFill>
                <a:latin typeface="Segoe UI"/>
                <a:ea typeface="Segoe UI" pitchFamily="34" charset="-122"/>
                <a:cs typeface="Segoe UI"/>
              </a:rPr>
              <a:t>Development</a:t>
            </a:r>
            <a:endParaRPr lang="en-US" sz="2700">
              <a:latin typeface="Segoe UI"/>
              <a:cs typeface="Segoe UI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6982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LLM-based importance predictor with prompt design, output parser, and normalization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609905" y="1186580"/>
            <a:ext cx="6400800" cy="2734056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09244" y="1767224"/>
            <a:ext cx="6001207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1385919"/>
            <a:ext cx="304495" cy="3044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5198" y="1471873"/>
            <a:ext cx="133502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28954" y="1424324"/>
            <a:ext cx="3049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LLM-Based Importance Predictor</a:t>
            </a:r>
            <a:endParaRPr lang="en-US" sz="1300"/>
          </a:p>
        </p:txBody>
      </p:sp>
      <p:sp>
        <p:nvSpPr>
          <p:cNvPr id="15" name="Shape 8"/>
          <p:cNvSpPr/>
          <p:nvPr/>
        </p:nvSpPr>
        <p:spPr>
          <a:xfrm>
            <a:off x="809244" y="1919929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09244" y="1919929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/>
          </a:p>
        </p:txBody>
      </p:sp>
      <p:sp>
        <p:nvSpPr>
          <p:cNvPr id="17" name="Text 10"/>
          <p:cNvSpPr txBox="1"/>
          <p:nvPr/>
        </p:nvSpPr>
        <p:spPr>
          <a:xfrm>
            <a:off x="1152144" y="1900726"/>
            <a:ext cx="5658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Design</a:t>
            </a:r>
            <a:endParaRPr lang="en-US" sz="900"/>
          </a:p>
        </p:txBody>
      </p:sp>
      <p:sp>
        <p:nvSpPr>
          <p:cNvPr id="18" name="Text 11"/>
          <p:cNvSpPr txBox="1"/>
          <p:nvPr/>
        </p:nvSpPr>
        <p:spPr>
          <a:xfrm>
            <a:off x="1152144" y="2105552"/>
            <a:ext cx="5658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Craft structured prompts presenting edge list with distances, node pairs, and optional in-context examples to avoid positional bias</a:t>
            </a:r>
            <a:endParaRPr lang="en-US" sz="900"/>
          </a:p>
        </p:txBody>
      </p:sp>
      <p:sp>
        <p:nvSpPr>
          <p:cNvPr id="19" name="Shape 12"/>
          <p:cNvSpPr/>
          <p:nvPr/>
        </p:nvSpPr>
        <p:spPr>
          <a:xfrm>
            <a:off x="809244" y="2581954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09244" y="2581954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/>
          </a:p>
        </p:txBody>
      </p:sp>
      <p:sp>
        <p:nvSpPr>
          <p:cNvPr id="21" name="Text 14"/>
          <p:cNvSpPr txBox="1"/>
          <p:nvPr/>
        </p:nvSpPr>
        <p:spPr>
          <a:xfrm>
            <a:off x="1152144" y="2562752"/>
            <a:ext cx="5658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Parser</a:t>
            </a:r>
            <a:endParaRPr lang="en-US" sz="900"/>
          </a:p>
        </p:txBody>
      </p:sp>
      <p:sp>
        <p:nvSpPr>
          <p:cNvPr id="22" name="Text 15"/>
          <p:cNvSpPr txBox="1"/>
          <p:nvPr/>
        </p:nvSpPr>
        <p:spPr>
          <a:xfrm>
            <a:off x="1152144" y="2767577"/>
            <a:ext cx="5658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numerical importance values from LLM output, handle refusals/malformed responses, deterministic tie-breaking</a:t>
            </a:r>
            <a:endParaRPr lang="en-US" sz="900"/>
          </a:p>
        </p:txBody>
      </p:sp>
      <p:sp>
        <p:nvSpPr>
          <p:cNvPr id="23" name="Shape 16"/>
          <p:cNvSpPr/>
          <p:nvPr/>
        </p:nvSpPr>
        <p:spPr>
          <a:xfrm>
            <a:off x="809244" y="324398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809244" y="3243980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/>
          </a:p>
        </p:txBody>
      </p:sp>
      <p:sp>
        <p:nvSpPr>
          <p:cNvPr id="25" name="Text 18"/>
          <p:cNvSpPr txBox="1"/>
          <p:nvPr/>
        </p:nvSpPr>
        <p:spPr>
          <a:xfrm>
            <a:off x="1152144" y="3224777"/>
            <a:ext cx="5658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Few-Shot Strategy</a:t>
            </a:r>
            <a:endParaRPr lang="en-US" sz="900"/>
          </a:p>
        </p:txBody>
      </p:sp>
      <p:sp>
        <p:nvSpPr>
          <p:cNvPr id="26" name="Text 19"/>
          <p:cNvSpPr txBox="1"/>
          <p:nvPr/>
        </p:nvSpPr>
        <p:spPr>
          <a:xfrm>
            <a:off x="1152144" y="3429603"/>
            <a:ext cx="6344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how many labeled examples are required before Spearman correlation with ground truth saturates</a:t>
            </a:r>
            <a:endParaRPr lang="en-US" sz="900"/>
          </a:p>
        </p:txBody>
      </p:sp>
      <p:sp>
        <p:nvSpPr>
          <p:cNvPr id="27" name="Shape 20"/>
          <p:cNvSpPr/>
          <p:nvPr/>
        </p:nvSpPr>
        <p:spPr>
          <a:xfrm>
            <a:off x="609905" y="4297574"/>
            <a:ext cx="6400800" cy="1752905"/>
          </a:xfrm>
          <a:prstGeom prst="roundRect">
            <a:avLst>
              <a:gd name="adj" fmla="val 68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9244" y="4879132"/>
            <a:ext cx="6001207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4497827"/>
            <a:ext cx="304495" cy="304495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909828" y="4583781"/>
            <a:ext cx="105156" cy="13350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28954" y="4536232"/>
            <a:ext cx="2142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 Strategy</a:t>
            </a:r>
            <a:endParaRPr lang="en-US" sz="1300"/>
          </a:p>
        </p:txBody>
      </p:sp>
      <p:sp>
        <p:nvSpPr>
          <p:cNvPr id="32" name="Shape 23"/>
          <p:cNvSpPr/>
          <p:nvPr/>
        </p:nvSpPr>
        <p:spPr>
          <a:xfrm>
            <a:off x="809244" y="5012634"/>
            <a:ext cx="2924251" cy="342900"/>
          </a:xfrm>
          <a:prstGeom prst="roundRect">
            <a:avLst>
              <a:gd name="adj" fmla="val 11851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86054" y="5088530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38174" y="5136078"/>
            <a:ext cx="85954" cy="9509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152144" y="5092187"/>
            <a:ext cx="2154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 Normalization:</a:t>
            </a:r>
            <a:r>
              <a:rPr lang="en-US" sz="9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ˆIe ← ˆIe/∑ˆIe'</a:t>
            </a:r>
            <a:endParaRPr lang="en-US" sz="900"/>
          </a:p>
        </p:txBody>
      </p:sp>
      <p:sp>
        <p:nvSpPr>
          <p:cNvPr id="36" name="Shape 26"/>
          <p:cNvSpPr/>
          <p:nvPr/>
        </p:nvSpPr>
        <p:spPr>
          <a:xfrm>
            <a:off x="3886200" y="5012634"/>
            <a:ext cx="2924251" cy="342900"/>
          </a:xfrm>
          <a:prstGeom prst="roundRect">
            <a:avLst>
              <a:gd name="adj" fmla="val 11851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3962095" y="5088530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4015130" y="5136078"/>
            <a:ext cx="85954" cy="9509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4229100" y="5092187"/>
            <a:ext cx="18708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Min-Max:</a:t>
            </a:r>
            <a:r>
              <a:rPr lang="en-US" sz="9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Maps scores to [0,1]</a:t>
            </a:r>
            <a:endParaRPr lang="en-US" sz="900"/>
          </a:p>
        </p:txBody>
      </p:sp>
      <p:sp>
        <p:nvSpPr>
          <p:cNvPr id="40" name="Shape 29"/>
          <p:cNvSpPr/>
          <p:nvPr/>
        </p:nvSpPr>
        <p:spPr>
          <a:xfrm>
            <a:off x="809244" y="5507325"/>
            <a:ext cx="2924251" cy="342900"/>
          </a:xfrm>
          <a:prstGeom prst="roundRect">
            <a:avLst>
              <a:gd name="adj" fmla="val 11851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886054" y="5584134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38174" y="5631683"/>
            <a:ext cx="85954" cy="9509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1152144" y="5587792"/>
            <a:ext cx="2289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Normalization:</a:t>
            </a:r>
            <a:r>
              <a:rPr lang="en-US" sz="9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Fractional ranks</a:t>
            </a:r>
            <a:endParaRPr lang="en-US" sz="900"/>
          </a:p>
        </p:txBody>
      </p:sp>
      <p:sp>
        <p:nvSpPr>
          <p:cNvPr id="44" name="Shape 32"/>
          <p:cNvSpPr/>
          <p:nvPr/>
        </p:nvSpPr>
        <p:spPr>
          <a:xfrm>
            <a:off x="3886200" y="5507325"/>
            <a:ext cx="2924251" cy="342900"/>
          </a:xfrm>
          <a:prstGeom prst="roundRect">
            <a:avLst>
              <a:gd name="adj" fmla="val 11851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3962095" y="5584134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4015130" y="5631683"/>
            <a:ext cx="85954" cy="9509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229100" y="5587792"/>
            <a:ext cx="2505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Invariant:</a:t>
            </a:r>
            <a:r>
              <a:rPr lang="en-US" sz="9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Reduces alpha sensitivity</a:t>
            </a:r>
            <a:endParaRPr lang="en-US" sz="900"/>
          </a:p>
        </p:txBody>
      </p:sp>
      <p:sp>
        <p:nvSpPr>
          <p:cNvPr id="48" name="Shape 35"/>
          <p:cNvSpPr/>
          <p:nvPr/>
        </p:nvSpPr>
        <p:spPr>
          <a:xfrm>
            <a:off x="7295998" y="1186580"/>
            <a:ext cx="4286707" cy="2428646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7496251" y="1767224"/>
            <a:ext cx="3886200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6251" y="1385919"/>
            <a:ext cx="304495" cy="304495"/>
          </a:xfrm>
          <a:prstGeom prst="rect">
            <a:avLst/>
          </a:prstGeom>
        </p:spPr>
      </p:pic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82205" y="1471873"/>
            <a:ext cx="133502" cy="133502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7915046" y="1424324"/>
            <a:ext cx="12362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Alpha Tuning</a:t>
            </a:r>
            <a:endParaRPr lang="en-US" sz="1300"/>
          </a:p>
        </p:txBody>
      </p:sp>
      <p:sp>
        <p:nvSpPr>
          <p:cNvPr id="53" name="Text 38"/>
          <p:cNvSpPr txBox="1"/>
          <p:nvPr/>
        </p:nvSpPr>
        <p:spPr>
          <a:xfrm>
            <a:off x="7496251" y="1900726"/>
            <a:ext cx="3886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modification weight α ∈ [0.2, 1.0] controls how strongly predicted importance inflates edge costs:</a:t>
            </a:r>
            <a:endParaRPr lang="en-US" sz="900"/>
          </a:p>
        </p:txBody>
      </p:sp>
      <p:sp>
        <p:nvSpPr>
          <p:cNvPr id="54" name="Shape 39"/>
          <p:cNvSpPr/>
          <p:nvPr/>
        </p:nvSpPr>
        <p:spPr>
          <a:xfrm>
            <a:off x="7493051" y="2373471"/>
            <a:ext cx="1181405" cy="304495"/>
          </a:xfrm>
          <a:prstGeom prst="roundRect">
            <a:avLst>
              <a:gd name="adj" fmla="val 112613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0"/>
          <p:cNvSpPr txBox="1"/>
          <p:nvPr/>
        </p:nvSpPr>
        <p:spPr>
          <a:xfrm>
            <a:off x="7610551" y="2439308"/>
            <a:ext cx="552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 = 0.2</a:t>
            </a:r>
            <a:endParaRPr lang="en-US" sz="900"/>
          </a:p>
        </p:txBody>
      </p:sp>
      <p:sp>
        <p:nvSpPr>
          <p:cNvPr id="56" name="Text 41"/>
          <p:cNvSpPr txBox="1"/>
          <p:nvPr/>
        </p:nvSpPr>
        <p:spPr>
          <a:xfrm>
            <a:off x="8037847" y="2439308"/>
            <a:ext cx="7735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impact</a:t>
            </a:r>
            <a:endParaRPr lang="en-US" sz="900"/>
          </a:p>
        </p:txBody>
      </p:sp>
      <p:sp>
        <p:nvSpPr>
          <p:cNvPr id="57" name="Shape 42"/>
          <p:cNvSpPr/>
          <p:nvPr/>
        </p:nvSpPr>
        <p:spPr>
          <a:xfrm>
            <a:off x="8784641" y="2373471"/>
            <a:ext cx="1200607" cy="304495"/>
          </a:xfrm>
          <a:prstGeom prst="roundRect">
            <a:avLst>
              <a:gd name="adj" fmla="val 112613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3"/>
          <p:cNvSpPr txBox="1"/>
          <p:nvPr/>
        </p:nvSpPr>
        <p:spPr>
          <a:xfrm>
            <a:off x="8898941" y="2439308"/>
            <a:ext cx="549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 = 1.0</a:t>
            </a:r>
            <a:endParaRPr lang="en-US" sz="900"/>
          </a:p>
        </p:txBody>
      </p:sp>
      <p:sp>
        <p:nvSpPr>
          <p:cNvPr id="59" name="Text 44"/>
          <p:cNvSpPr txBox="1"/>
          <p:nvPr/>
        </p:nvSpPr>
        <p:spPr>
          <a:xfrm>
            <a:off x="9329166" y="2436752"/>
            <a:ext cx="8476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impact</a:t>
            </a:r>
            <a:endParaRPr lang="en-US" sz="90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9"/>
          <a:srcRect l="-11" r="-11"/>
          <a:stretch/>
        </p:blipFill>
        <p:spPr>
          <a:xfrm>
            <a:off x="7496251" y="2746546"/>
            <a:ext cx="3886200" cy="666598"/>
          </a:xfrm>
          <a:prstGeom prst="rect">
            <a:avLst/>
          </a:prstGeom>
        </p:spPr>
      </p:pic>
      <p:sp>
        <p:nvSpPr>
          <p:cNvPr id="61" name="Text 45"/>
          <p:cNvSpPr txBox="1"/>
          <p:nvPr/>
        </p:nvSpPr>
        <p:spPr>
          <a:xfrm>
            <a:off x="7619695" y="2869990"/>
            <a:ext cx="3639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 Goal:</a:t>
            </a:r>
            <a:endParaRPr lang="en-US" sz="900"/>
          </a:p>
        </p:txBody>
      </p:sp>
      <p:sp>
        <p:nvSpPr>
          <p:cNvPr id="62" name="Text 46"/>
          <p:cNvSpPr txBox="1"/>
          <p:nvPr/>
        </p:nvSpPr>
        <p:spPr>
          <a:xfrm>
            <a:off x="7619695" y="3106820"/>
            <a:ext cx="42995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Maximize routing quality on held-out routes rather than raw correlation</a:t>
            </a:r>
            <a:endParaRPr lang="en-US" sz="900"/>
          </a:p>
        </p:txBody>
      </p:sp>
      <p:sp>
        <p:nvSpPr>
          <p:cNvPr id="63" name="Shape 47"/>
          <p:cNvSpPr/>
          <p:nvPr/>
        </p:nvSpPr>
        <p:spPr>
          <a:xfrm>
            <a:off x="7295998" y="3995822"/>
            <a:ext cx="4286707" cy="1895551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48"/>
          <p:cNvSpPr/>
          <p:nvPr/>
        </p:nvSpPr>
        <p:spPr>
          <a:xfrm>
            <a:off x="7496251" y="4577380"/>
            <a:ext cx="3886200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6251" y="4196075"/>
            <a:ext cx="304495" cy="304495"/>
          </a:xfrm>
          <a:prstGeom prst="rect">
            <a:avLst/>
          </a:prstGeom>
        </p:spPr>
      </p:pic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7563002" y="4282029"/>
            <a:ext cx="171907" cy="133502"/>
          </a:xfrm>
          <a:prstGeom prst="rect">
            <a:avLst/>
          </a:prstGeom>
        </p:spPr>
      </p:pic>
      <p:sp>
        <p:nvSpPr>
          <p:cNvPr id="67" name="Text 49"/>
          <p:cNvSpPr txBox="1"/>
          <p:nvPr/>
        </p:nvSpPr>
        <p:spPr>
          <a:xfrm>
            <a:off x="7915046" y="4234480"/>
            <a:ext cx="2040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Steps</a:t>
            </a:r>
            <a:endParaRPr lang="en-US" sz="1300"/>
          </a:p>
        </p:txBody>
      </p:sp>
      <p:sp>
        <p:nvSpPr>
          <p:cNvPr id="68" name="Shape 50"/>
          <p:cNvSpPr/>
          <p:nvPr/>
        </p:nvSpPr>
        <p:spPr>
          <a:xfrm>
            <a:off x="7496251" y="472917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7496251" y="4729170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/>
          </a:p>
        </p:txBody>
      </p:sp>
      <p:sp>
        <p:nvSpPr>
          <p:cNvPr id="70" name="Text 52"/>
          <p:cNvSpPr txBox="1"/>
          <p:nvPr/>
        </p:nvSpPr>
        <p:spPr>
          <a:xfrm>
            <a:off x="7839151" y="4709968"/>
            <a:ext cx="3543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 Application</a:t>
            </a:r>
            <a:endParaRPr lang="en-US" sz="900"/>
          </a:p>
        </p:txBody>
      </p:sp>
      <p:sp>
        <p:nvSpPr>
          <p:cNvPr id="71" name="Text 53"/>
          <p:cNvSpPr txBox="1"/>
          <p:nvPr/>
        </p:nvSpPr>
        <p:spPr>
          <a:xfrm>
            <a:off x="7839151" y="4914794"/>
            <a:ext cx="3543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sum-normalization before metric computation</a:t>
            </a:r>
            <a:endParaRPr lang="en-US" sz="900"/>
          </a:p>
        </p:txBody>
      </p:sp>
      <p:sp>
        <p:nvSpPr>
          <p:cNvPr id="72" name="Shape 54"/>
          <p:cNvSpPr/>
          <p:nvPr/>
        </p:nvSpPr>
        <p:spPr>
          <a:xfrm>
            <a:off x="7496251" y="5220203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55"/>
          <p:cNvSpPr/>
          <p:nvPr/>
        </p:nvSpPr>
        <p:spPr>
          <a:xfrm>
            <a:off x="7496251" y="5220203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/>
          </a:p>
        </p:txBody>
      </p:sp>
      <p:sp>
        <p:nvSpPr>
          <p:cNvPr id="74" name="Text 56"/>
          <p:cNvSpPr txBox="1"/>
          <p:nvPr/>
        </p:nvSpPr>
        <p:spPr>
          <a:xfrm>
            <a:off x="7839151" y="5201001"/>
            <a:ext cx="3543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Hyper-parameter Tuning</a:t>
            </a:r>
            <a:endParaRPr lang="en-US" sz="900"/>
          </a:p>
        </p:txBody>
      </p:sp>
      <p:sp>
        <p:nvSpPr>
          <p:cNvPr id="75" name="Text 57"/>
          <p:cNvSpPr txBox="1"/>
          <p:nvPr/>
        </p:nvSpPr>
        <p:spPr>
          <a:xfrm>
            <a:off x="7839151" y="5405826"/>
            <a:ext cx="3543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α as hyper-parameter for routing quality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1060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6445F"/>
                </a:solidFill>
                <a:latin typeface="Segoe UI"/>
                <a:ea typeface="Segoe UI" pitchFamily="34" charset="-122"/>
                <a:cs typeface="Segoe UI"/>
              </a:rPr>
              <a:t>Routing Integration</a:t>
            </a:r>
            <a:r>
              <a:rPr lang="en-US" sz="2700" b="1">
                <a:solidFill>
                  <a:srgbClr val="1A1A2E"/>
                </a:solidFill>
                <a:latin typeface="Segoe UI"/>
                <a:ea typeface="Segoe UI" pitchFamily="34" charset="-122"/>
                <a:cs typeface="Segoe UI"/>
              </a:rPr>
              <a:t> &amp; Normalization</a:t>
            </a:r>
            <a:endParaRPr lang="en-US" sz="2700">
              <a:latin typeface="Segoe UI"/>
              <a:cs typeface="Segoe UI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8535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modification, re-routing, and normalization strategies for edge importance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609905" y="1037843"/>
            <a:ext cx="10972800" cy="3781959"/>
          </a:xfrm>
          <a:prstGeom prst="roundRect">
            <a:avLst>
              <a:gd name="adj" fmla="val 139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47649" y="1609344"/>
            <a:ext cx="104963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190549"/>
            <a:ext cx="304495" cy="3044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1276502"/>
            <a:ext cx="133502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66444" y="1228954"/>
            <a:ext cx="2618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Integration Pipeline</a:t>
            </a:r>
            <a:endParaRPr lang="en-US" sz="130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847649" y="1819656"/>
            <a:ext cx="2131466" cy="276240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1037844" y="17428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1037844" y="174284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/>
          </a:p>
        </p:txBody>
      </p:sp>
      <p:sp>
        <p:nvSpPr>
          <p:cNvPr id="18" name="Text 10"/>
          <p:cNvSpPr txBox="1"/>
          <p:nvPr/>
        </p:nvSpPr>
        <p:spPr>
          <a:xfrm>
            <a:off x="1076249" y="2085746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Modification</a:t>
            </a:r>
            <a:endParaRPr lang="en-US" sz="1100"/>
          </a:p>
        </p:txBody>
      </p:sp>
      <p:sp>
        <p:nvSpPr>
          <p:cNvPr id="19" name="Text 11"/>
          <p:cNvSpPr txBox="1"/>
          <p:nvPr/>
        </p:nvSpPr>
        <p:spPr>
          <a:xfrm>
            <a:off x="1076249" y="2352751"/>
            <a:ext cx="1714500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method m ∈ {GT, LLM, Betweenness, Degree}, construct modified edge costs c'_e = c_e × (1 + α·Î_e^(m))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76249" y="3866998"/>
            <a:ext cx="17145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1076249" y="4000500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258" r="-258"/>
          <a:stretch/>
        </p:blipFill>
        <p:spPr>
          <a:xfrm>
            <a:off x="1119226" y="4038905"/>
            <a:ext cx="66751" cy="7589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304849" y="3991356"/>
            <a:ext cx="10579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 ∈ [0.2, 1.0]</a:t>
            </a:r>
            <a:endParaRPr lang="en-US" sz="900"/>
          </a:p>
        </p:txBody>
      </p:sp>
      <p:sp>
        <p:nvSpPr>
          <p:cNvPr id="24" name="Shape 15"/>
          <p:cNvSpPr/>
          <p:nvPr/>
        </p:nvSpPr>
        <p:spPr>
          <a:xfrm>
            <a:off x="1076249" y="420075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rcRect l="-258" r="-258"/>
          <a:stretch/>
        </p:blipFill>
        <p:spPr>
          <a:xfrm>
            <a:off x="1119226" y="4238244"/>
            <a:ext cx="66751" cy="7589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304849" y="4200754"/>
            <a:ext cx="13981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methods compared</a:t>
            </a:r>
            <a:endParaRPr lang="en-US" sz="90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3207715" y="3086100"/>
            <a:ext cx="200254" cy="228600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3636569" y="1819656"/>
            <a:ext cx="2131466" cy="2762402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3826764" y="17428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3826764" y="174284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/>
          </a:p>
        </p:txBody>
      </p:sp>
      <p:sp>
        <p:nvSpPr>
          <p:cNvPr id="31" name="Text 19"/>
          <p:cNvSpPr txBox="1"/>
          <p:nvPr/>
        </p:nvSpPr>
        <p:spPr>
          <a:xfrm>
            <a:off x="3865169" y="2085746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Re-solve TSP</a:t>
            </a:r>
            <a:endParaRPr lang="en-US" sz="1100"/>
          </a:p>
        </p:txBody>
      </p:sp>
      <p:sp>
        <p:nvSpPr>
          <p:cNvPr id="32" name="Text 20"/>
          <p:cNvSpPr txBox="1"/>
          <p:nvPr/>
        </p:nvSpPr>
        <p:spPr>
          <a:xfrm>
            <a:off x="3865169" y="2352751"/>
            <a:ext cx="17145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LKH-3 on modified graph with warm-start from R_base to obtain R_m and C_m</a:t>
            </a:r>
            <a:endParaRPr lang="en-US" sz="900"/>
          </a:p>
        </p:txBody>
      </p:sp>
      <p:sp>
        <p:nvSpPr>
          <p:cNvPr id="33" name="Shape 21"/>
          <p:cNvSpPr/>
          <p:nvPr/>
        </p:nvSpPr>
        <p:spPr>
          <a:xfrm>
            <a:off x="3865169" y="3886200"/>
            <a:ext cx="17145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3865169" y="400964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rcRect l="-258" r="-258"/>
          <a:stretch/>
        </p:blipFill>
        <p:spPr>
          <a:xfrm>
            <a:off x="3907231" y="4048049"/>
            <a:ext cx="66751" cy="7589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093769" y="4009644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 enabled</a:t>
            </a:r>
            <a:endParaRPr lang="en-US" sz="900"/>
          </a:p>
        </p:txBody>
      </p:sp>
      <p:sp>
        <p:nvSpPr>
          <p:cNvPr id="37" name="Shape 24"/>
          <p:cNvSpPr/>
          <p:nvPr/>
        </p:nvSpPr>
        <p:spPr>
          <a:xfrm>
            <a:off x="3865169" y="420075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7"/>
          <a:srcRect l="-258" r="-258"/>
          <a:stretch/>
        </p:blipFill>
        <p:spPr>
          <a:xfrm>
            <a:off x="3907231" y="4238244"/>
            <a:ext cx="66751" cy="75895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4093769" y="4200754"/>
            <a:ext cx="13130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R_m and C_m</a:t>
            </a:r>
            <a:endParaRPr lang="en-US" sz="90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5995721" y="3086100"/>
            <a:ext cx="200254" cy="228600"/>
          </a:xfrm>
          <a:prstGeom prst="rect">
            <a:avLst/>
          </a:prstGeom>
        </p:spPr>
      </p:pic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6424574" y="1819656"/>
            <a:ext cx="2131466" cy="2762402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6614770" y="17428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7"/>
          <p:cNvSpPr/>
          <p:nvPr/>
        </p:nvSpPr>
        <p:spPr>
          <a:xfrm>
            <a:off x="6614770" y="174284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/>
          </a:p>
        </p:txBody>
      </p:sp>
      <p:sp>
        <p:nvSpPr>
          <p:cNvPr id="44" name="Text 28"/>
          <p:cNvSpPr txBox="1"/>
          <p:nvPr/>
        </p:nvSpPr>
        <p:spPr>
          <a:xfrm>
            <a:off x="6653174" y="2085746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Outputs</a:t>
            </a:r>
            <a:endParaRPr lang="en-US" sz="1100"/>
          </a:p>
        </p:txBody>
      </p:sp>
      <p:sp>
        <p:nvSpPr>
          <p:cNvPr id="45" name="Text 29"/>
          <p:cNvSpPr txBox="1"/>
          <p:nvPr/>
        </p:nvSpPr>
        <p:spPr>
          <a:xfrm>
            <a:off x="6653174" y="2352751"/>
            <a:ext cx="17145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routes, costs, and metadata for downstream evaluation and comparison</a:t>
            </a:r>
            <a:endParaRPr lang="en-US" sz="900"/>
          </a:p>
        </p:txBody>
      </p:sp>
      <p:sp>
        <p:nvSpPr>
          <p:cNvPr id="46" name="Shape 30"/>
          <p:cNvSpPr/>
          <p:nvPr/>
        </p:nvSpPr>
        <p:spPr>
          <a:xfrm>
            <a:off x="6653174" y="3886200"/>
            <a:ext cx="17145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47" name="Shape 31"/>
          <p:cNvSpPr/>
          <p:nvPr/>
        </p:nvSpPr>
        <p:spPr>
          <a:xfrm>
            <a:off x="6653174" y="400964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7"/>
          <a:srcRect l="-258" r="-258"/>
          <a:stretch/>
        </p:blipFill>
        <p:spPr>
          <a:xfrm>
            <a:off x="6696151" y="4048049"/>
            <a:ext cx="66751" cy="75895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6881774" y="4009644"/>
            <a:ext cx="13706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serialization</a:t>
            </a:r>
            <a:endParaRPr lang="en-US" sz="900"/>
          </a:p>
        </p:txBody>
      </p:sp>
      <p:sp>
        <p:nvSpPr>
          <p:cNvPr id="50" name="Shape 33"/>
          <p:cNvSpPr/>
          <p:nvPr/>
        </p:nvSpPr>
        <p:spPr>
          <a:xfrm>
            <a:off x="6653174" y="420075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7"/>
          <a:srcRect l="-258" r="-258"/>
          <a:stretch/>
        </p:blipFill>
        <p:spPr>
          <a:xfrm>
            <a:off x="6696151" y="4238244"/>
            <a:ext cx="66751" cy="75895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6881774" y="4200754"/>
            <a:ext cx="1459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metrics</a:t>
            </a:r>
            <a:endParaRPr lang="en-US" sz="900"/>
          </a:p>
        </p:txBody>
      </p:sp>
      <p:pic>
        <p:nvPicPr>
          <p:cNvPr id="53" name="Image 16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8784641" y="3086100"/>
            <a:ext cx="200254" cy="228600"/>
          </a:xfrm>
          <a:prstGeom prst="rect">
            <a:avLst/>
          </a:prstGeom>
        </p:spPr>
      </p:pic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9213494" y="1819656"/>
            <a:ext cx="2131466" cy="2762402"/>
          </a:xfrm>
          <a:prstGeom prst="rect">
            <a:avLst/>
          </a:prstGeom>
        </p:spPr>
      </p:pic>
      <p:sp>
        <p:nvSpPr>
          <p:cNvPr id="55" name="Shape 35"/>
          <p:cNvSpPr/>
          <p:nvPr/>
        </p:nvSpPr>
        <p:spPr>
          <a:xfrm>
            <a:off x="9403690" y="17428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36"/>
          <p:cNvSpPr/>
          <p:nvPr/>
        </p:nvSpPr>
        <p:spPr>
          <a:xfrm>
            <a:off x="9403690" y="174284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/>
          </a:p>
        </p:txBody>
      </p:sp>
      <p:sp>
        <p:nvSpPr>
          <p:cNvPr id="57" name="Text 37"/>
          <p:cNvSpPr txBox="1"/>
          <p:nvPr/>
        </p:nvSpPr>
        <p:spPr>
          <a:xfrm>
            <a:off x="9442094" y="2085746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</a:t>
            </a:r>
            <a:endParaRPr lang="en-US" sz="1100"/>
          </a:p>
        </p:txBody>
      </p:sp>
      <p:sp>
        <p:nvSpPr>
          <p:cNvPr id="58" name="Text 38"/>
          <p:cNvSpPr txBox="1"/>
          <p:nvPr/>
        </p:nvSpPr>
        <p:spPr>
          <a:xfrm>
            <a:off x="9442094" y="2352751"/>
            <a:ext cx="17145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sum, min-max, or rank normalization to handle scale differences across predictors</a:t>
            </a:r>
            <a:endParaRPr lang="en-US" sz="900"/>
          </a:p>
        </p:txBody>
      </p:sp>
      <p:sp>
        <p:nvSpPr>
          <p:cNvPr id="59" name="Shape 39"/>
          <p:cNvSpPr/>
          <p:nvPr/>
        </p:nvSpPr>
        <p:spPr>
          <a:xfrm>
            <a:off x="9442094" y="3886200"/>
            <a:ext cx="17145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sp>
        <p:nvSpPr>
          <p:cNvPr id="60" name="Shape 40"/>
          <p:cNvSpPr/>
          <p:nvPr/>
        </p:nvSpPr>
        <p:spPr>
          <a:xfrm>
            <a:off x="9442094" y="400964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7"/>
          <a:srcRect l="-258" r="-258"/>
          <a:stretch/>
        </p:blipFill>
        <p:spPr>
          <a:xfrm>
            <a:off x="9484157" y="4048049"/>
            <a:ext cx="66751" cy="75895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9670694" y="4009644"/>
            <a:ext cx="11393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invariant</a:t>
            </a:r>
            <a:endParaRPr lang="en-US" sz="900"/>
          </a:p>
        </p:txBody>
      </p:sp>
      <p:sp>
        <p:nvSpPr>
          <p:cNvPr id="63" name="Shape 42"/>
          <p:cNvSpPr/>
          <p:nvPr/>
        </p:nvSpPr>
        <p:spPr>
          <a:xfrm>
            <a:off x="9442094" y="4200754"/>
            <a:ext cx="152705" cy="1527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19" descr="preencoded.png"/>
          <p:cNvPicPr>
            <a:picLocks noChangeAspect="1"/>
          </p:cNvPicPr>
          <p:nvPr/>
        </p:nvPicPr>
        <p:blipFill>
          <a:blip r:embed="rId7"/>
          <a:srcRect l="-258" r="-258"/>
          <a:stretch/>
        </p:blipFill>
        <p:spPr>
          <a:xfrm>
            <a:off x="9484157" y="4238244"/>
            <a:ext cx="66751" cy="75895"/>
          </a:xfrm>
          <a:prstGeom prst="rect">
            <a:avLst/>
          </a:prstGeom>
        </p:spPr>
      </p:pic>
      <p:sp>
        <p:nvSpPr>
          <p:cNvPr id="65" name="Text 43"/>
          <p:cNvSpPr txBox="1"/>
          <p:nvPr/>
        </p:nvSpPr>
        <p:spPr>
          <a:xfrm>
            <a:off x="9670694" y="4200754"/>
            <a:ext cx="13853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Rank-based metrics</a:t>
            </a:r>
            <a:endParaRPr lang="en-US" sz="900"/>
          </a:p>
        </p:txBody>
      </p:sp>
      <p:sp>
        <p:nvSpPr>
          <p:cNvPr id="66" name="Shape 44"/>
          <p:cNvSpPr/>
          <p:nvPr/>
        </p:nvSpPr>
        <p:spPr>
          <a:xfrm>
            <a:off x="609905" y="5009998"/>
            <a:ext cx="5372100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7" name="Image 2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9244" y="5210251"/>
            <a:ext cx="267005" cy="267005"/>
          </a:xfrm>
          <a:prstGeom prst="rect">
            <a:avLst/>
          </a:prstGeom>
        </p:spPr>
      </p:pic>
      <p:pic>
        <p:nvPicPr>
          <p:cNvPr id="68" name="Image 21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871423" y="5286146"/>
            <a:ext cx="142646" cy="114300"/>
          </a:xfrm>
          <a:prstGeom prst="rect">
            <a:avLst/>
          </a:prstGeom>
        </p:spPr>
      </p:pic>
      <p:sp>
        <p:nvSpPr>
          <p:cNvPr id="69" name="Text 45"/>
          <p:cNvSpPr txBox="1"/>
          <p:nvPr/>
        </p:nvSpPr>
        <p:spPr>
          <a:xfrm>
            <a:off x="1190549" y="5243170"/>
            <a:ext cx="20409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 Strategies</a:t>
            </a:r>
            <a:endParaRPr lang="en-US" sz="1200"/>
          </a:p>
        </p:txBody>
      </p:sp>
      <p:pic>
        <p:nvPicPr>
          <p:cNvPr id="70" name="Image 22" descr="preencoded.png"/>
          <p:cNvPicPr>
            <a:picLocks noChangeAspect="1"/>
          </p:cNvPicPr>
          <p:nvPr/>
        </p:nvPicPr>
        <p:blipFill>
          <a:blip r:embed="rId11"/>
          <a:srcRect l="-18" r="-18"/>
          <a:stretch/>
        </p:blipFill>
        <p:spPr>
          <a:xfrm>
            <a:off x="809244" y="5591556"/>
            <a:ext cx="1555394" cy="694944"/>
          </a:xfrm>
          <a:prstGeom prst="rect">
            <a:avLst/>
          </a:prstGeom>
        </p:spPr>
      </p:pic>
      <p:sp>
        <p:nvSpPr>
          <p:cNvPr id="71" name="Text 46"/>
          <p:cNvSpPr txBox="1"/>
          <p:nvPr/>
        </p:nvSpPr>
        <p:spPr>
          <a:xfrm>
            <a:off x="923544" y="5705856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</a:t>
            </a:r>
            <a:endParaRPr lang="en-US" sz="1300"/>
          </a:p>
        </p:txBody>
      </p:sp>
      <p:sp>
        <p:nvSpPr>
          <p:cNvPr id="72" name="Text 47"/>
          <p:cNvSpPr txBox="1"/>
          <p:nvPr/>
        </p:nvSpPr>
        <p:spPr>
          <a:xfrm>
            <a:off x="923544" y="6001207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Î_e / ΣÎ_e'</a:t>
            </a:r>
            <a:endParaRPr lang="en-US" sz="900"/>
          </a:p>
        </p:txBody>
      </p:sp>
      <p:pic>
        <p:nvPicPr>
          <p:cNvPr id="73" name="Image 23" descr="preencoded.png"/>
          <p:cNvPicPr>
            <a:picLocks noChangeAspect="1"/>
          </p:cNvPicPr>
          <p:nvPr/>
        </p:nvPicPr>
        <p:blipFill>
          <a:blip r:embed="rId12"/>
          <a:srcRect l="-13" r="-13"/>
          <a:stretch/>
        </p:blipFill>
        <p:spPr>
          <a:xfrm>
            <a:off x="2517343" y="5591556"/>
            <a:ext cx="1555394" cy="694944"/>
          </a:xfrm>
          <a:prstGeom prst="rect">
            <a:avLst/>
          </a:prstGeom>
        </p:spPr>
      </p:pic>
      <p:sp>
        <p:nvSpPr>
          <p:cNvPr id="74" name="Text 48"/>
          <p:cNvSpPr txBox="1"/>
          <p:nvPr/>
        </p:nvSpPr>
        <p:spPr>
          <a:xfrm>
            <a:off x="2631643" y="5705856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Min-Max</a:t>
            </a:r>
            <a:endParaRPr lang="en-US" sz="1300"/>
          </a:p>
        </p:txBody>
      </p:sp>
      <p:sp>
        <p:nvSpPr>
          <p:cNvPr id="75" name="Text 49"/>
          <p:cNvSpPr txBox="1"/>
          <p:nvPr/>
        </p:nvSpPr>
        <p:spPr>
          <a:xfrm>
            <a:off x="2631643" y="6001207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[0,1] scale</a:t>
            </a:r>
            <a:endParaRPr lang="en-US" sz="900"/>
          </a:p>
        </p:txBody>
      </p:sp>
      <p:pic>
        <p:nvPicPr>
          <p:cNvPr id="76" name="Image 24" descr="preencoded.png"/>
          <p:cNvPicPr>
            <a:picLocks noChangeAspect="1"/>
          </p:cNvPicPr>
          <p:nvPr/>
        </p:nvPicPr>
        <p:blipFill>
          <a:blip r:embed="rId11"/>
          <a:srcRect l="-18" r="-18"/>
          <a:stretch/>
        </p:blipFill>
        <p:spPr>
          <a:xfrm>
            <a:off x="4226357" y="5591556"/>
            <a:ext cx="1555394" cy="694944"/>
          </a:xfrm>
          <a:prstGeom prst="rect">
            <a:avLst/>
          </a:prstGeom>
        </p:spPr>
      </p:pic>
      <p:sp>
        <p:nvSpPr>
          <p:cNvPr id="77" name="Text 50"/>
          <p:cNvSpPr txBox="1"/>
          <p:nvPr/>
        </p:nvSpPr>
        <p:spPr>
          <a:xfrm>
            <a:off x="4340657" y="5705856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</a:t>
            </a:r>
            <a:endParaRPr lang="en-US" sz="1300"/>
          </a:p>
        </p:txBody>
      </p:sp>
      <p:sp>
        <p:nvSpPr>
          <p:cNvPr id="78" name="Text 51"/>
          <p:cNvSpPr txBox="1"/>
          <p:nvPr/>
        </p:nvSpPr>
        <p:spPr>
          <a:xfrm>
            <a:off x="4340657" y="6001207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Fractional ranks</a:t>
            </a:r>
            <a:endParaRPr lang="en-US" sz="900"/>
          </a:p>
        </p:txBody>
      </p:sp>
      <p:sp>
        <p:nvSpPr>
          <p:cNvPr id="79" name="Shape 52"/>
          <p:cNvSpPr/>
          <p:nvPr/>
        </p:nvSpPr>
        <p:spPr>
          <a:xfrm>
            <a:off x="6210605" y="5009998"/>
            <a:ext cx="5372100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0" name="Image 2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09944" y="5210251"/>
            <a:ext cx="267005" cy="267005"/>
          </a:xfrm>
          <a:prstGeom prst="rect">
            <a:avLst/>
          </a:prstGeom>
        </p:spPr>
      </p:pic>
      <p:pic>
        <p:nvPicPr>
          <p:cNvPr id="81" name="Image 2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486754" y="5286146"/>
            <a:ext cx="114300" cy="114300"/>
          </a:xfrm>
          <a:prstGeom prst="rect">
            <a:avLst/>
          </a:prstGeom>
        </p:spPr>
      </p:pic>
      <p:sp>
        <p:nvSpPr>
          <p:cNvPr id="82" name="Text 53"/>
          <p:cNvSpPr txBox="1"/>
          <p:nvPr/>
        </p:nvSpPr>
        <p:spPr>
          <a:xfrm>
            <a:off x="6791249" y="5243170"/>
            <a:ext cx="15197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Metrics</a:t>
            </a:r>
            <a:endParaRPr lang="en-US" sz="1200"/>
          </a:p>
        </p:txBody>
      </p:sp>
      <p:pic>
        <p:nvPicPr>
          <p:cNvPr id="83" name="Image 27" descr="preencoded.png"/>
          <p:cNvPicPr>
            <a:picLocks noChangeAspect="1"/>
          </p:cNvPicPr>
          <p:nvPr/>
        </p:nvPicPr>
        <p:blipFill>
          <a:blip r:embed="rId11"/>
          <a:srcRect l="-18" r="-18"/>
          <a:stretch/>
        </p:blipFill>
        <p:spPr>
          <a:xfrm>
            <a:off x="6409944" y="5591556"/>
            <a:ext cx="1555394" cy="694944"/>
          </a:xfrm>
          <a:prstGeom prst="rect">
            <a:avLst/>
          </a:prstGeom>
        </p:spPr>
      </p:pic>
      <p:sp>
        <p:nvSpPr>
          <p:cNvPr id="84" name="Text 54"/>
          <p:cNvSpPr txBox="1"/>
          <p:nvPr/>
        </p:nvSpPr>
        <p:spPr>
          <a:xfrm>
            <a:off x="6524244" y="5705856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ΔC</a:t>
            </a:r>
            <a:endParaRPr lang="en-US" sz="1300"/>
          </a:p>
        </p:txBody>
      </p:sp>
      <p:sp>
        <p:nvSpPr>
          <p:cNvPr id="85" name="Text 55"/>
          <p:cNvSpPr txBox="1"/>
          <p:nvPr/>
        </p:nvSpPr>
        <p:spPr>
          <a:xfrm>
            <a:off x="6524244" y="6001207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diff</a:t>
            </a:r>
            <a:endParaRPr lang="en-US" sz="900"/>
          </a:p>
        </p:txBody>
      </p:sp>
      <p:pic>
        <p:nvPicPr>
          <p:cNvPr id="86" name="Image 28" descr="preencoded.png"/>
          <p:cNvPicPr>
            <a:picLocks noChangeAspect="1"/>
          </p:cNvPicPr>
          <p:nvPr/>
        </p:nvPicPr>
        <p:blipFill>
          <a:blip r:embed="rId12"/>
          <a:srcRect l="-13" r="-13"/>
          <a:stretch/>
        </p:blipFill>
        <p:spPr>
          <a:xfrm>
            <a:off x="8118043" y="5591556"/>
            <a:ext cx="1555394" cy="694944"/>
          </a:xfrm>
          <a:prstGeom prst="rect">
            <a:avLst/>
          </a:prstGeom>
        </p:spPr>
      </p:pic>
      <p:sp>
        <p:nvSpPr>
          <p:cNvPr id="87" name="Text 56"/>
          <p:cNvSpPr txBox="1"/>
          <p:nvPr/>
        </p:nvSpPr>
        <p:spPr>
          <a:xfrm>
            <a:off x="8232343" y="5705856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Jaccard</a:t>
            </a:r>
            <a:endParaRPr lang="en-US" sz="1300"/>
          </a:p>
        </p:txBody>
      </p:sp>
      <p:sp>
        <p:nvSpPr>
          <p:cNvPr id="88" name="Text 57"/>
          <p:cNvSpPr txBox="1"/>
          <p:nvPr/>
        </p:nvSpPr>
        <p:spPr>
          <a:xfrm>
            <a:off x="8232343" y="6001207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Overlap</a:t>
            </a:r>
            <a:endParaRPr lang="en-US" sz="900"/>
          </a:p>
        </p:txBody>
      </p:sp>
      <p:pic>
        <p:nvPicPr>
          <p:cNvPr id="89" name="Image 29" descr="preencoded.png"/>
          <p:cNvPicPr>
            <a:picLocks noChangeAspect="1"/>
          </p:cNvPicPr>
          <p:nvPr/>
        </p:nvPicPr>
        <p:blipFill>
          <a:blip r:embed="rId11"/>
          <a:srcRect l="-18" r="-18"/>
          <a:stretch/>
        </p:blipFill>
        <p:spPr>
          <a:xfrm>
            <a:off x="9827057" y="5591556"/>
            <a:ext cx="1555394" cy="694944"/>
          </a:xfrm>
          <a:prstGeom prst="rect">
            <a:avLst/>
          </a:prstGeom>
        </p:spPr>
      </p:pic>
      <p:sp>
        <p:nvSpPr>
          <p:cNvPr id="90" name="Text 58"/>
          <p:cNvSpPr txBox="1"/>
          <p:nvPr/>
        </p:nvSpPr>
        <p:spPr>
          <a:xfrm>
            <a:off x="9941357" y="5705856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</a:t>
            </a:r>
            <a:endParaRPr lang="en-US" sz="1300"/>
          </a:p>
        </p:txBody>
      </p:sp>
      <p:sp>
        <p:nvSpPr>
          <p:cNvPr id="91" name="Text 59"/>
          <p:cNvSpPr txBox="1"/>
          <p:nvPr/>
        </p:nvSpPr>
        <p:spPr>
          <a:xfrm>
            <a:off x="9941357" y="6001207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Spearman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97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8481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6445F"/>
                </a:solidFill>
                <a:latin typeface="Segoe UI"/>
                <a:ea typeface="Segoe UI" pitchFamily="34" charset="-122"/>
                <a:cs typeface="Segoe UI"/>
              </a:rPr>
              <a:t>Applications</a:t>
            </a:r>
            <a:r>
              <a:rPr lang="en-US" sz="2700" b="1">
                <a:solidFill>
                  <a:srgbClr val="1A1A2E"/>
                </a:solidFill>
                <a:latin typeface="Segoe UI"/>
                <a:ea typeface="Segoe UI" pitchFamily="34" charset="-122"/>
                <a:cs typeface="Segoe UI"/>
              </a:rPr>
              <a:t> &amp; Extensions</a:t>
            </a:r>
            <a:endParaRPr lang="en-US" sz="2700">
              <a:latin typeface="Segoe UI"/>
              <a:cs typeface="Segoe UI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6753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 applications and generalization of edge importance framework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609905" y="1075333"/>
            <a:ext cx="6400800" cy="3211373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47649" y="1609344"/>
            <a:ext cx="59243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190549"/>
            <a:ext cx="304495" cy="3044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942746" y="1276502"/>
            <a:ext cx="114300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66444" y="1228954"/>
            <a:ext cx="2381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 Applications</a:t>
            </a:r>
            <a:endParaRPr lang="en-US" sz="130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847649" y="1819656"/>
            <a:ext cx="2885846" cy="114848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1037844" y="19714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95451" y="2029054"/>
            <a:ext cx="114300" cy="1143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037844" y="2276856"/>
            <a:ext cx="25438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Pruning</a:t>
            </a:r>
            <a:endParaRPr lang="en-US" sz="1000"/>
          </a:p>
        </p:txBody>
      </p:sp>
      <p:sp>
        <p:nvSpPr>
          <p:cNvPr id="19" name="Text 10"/>
          <p:cNvSpPr txBox="1"/>
          <p:nvPr/>
        </p:nvSpPr>
        <p:spPr>
          <a:xfrm>
            <a:off x="1037844" y="2495398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low-importance edges from KNN graph to reduce problem size</a:t>
            </a:r>
            <a:endParaRPr lang="en-US" sz="90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3886200" y="1819656"/>
            <a:ext cx="2885846" cy="1148486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4076395" y="19714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134002" y="2029054"/>
            <a:ext cx="114300" cy="11430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4076395" y="2276856"/>
            <a:ext cx="25438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Routing</a:t>
            </a:r>
            <a:endParaRPr lang="en-US" sz="1000"/>
          </a:p>
        </p:txBody>
      </p:sp>
      <p:sp>
        <p:nvSpPr>
          <p:cNvPr id="24" name="Text 13"/>
          <p:cNvSpPr txBox="1"/>
          <p:nvPr/>
        </p:nvSpPr>
        <p:spPr>
          <a:xfrm>
            <a:off x="4076395" y="2495398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Inflate costs of high-importance edges for resilience</a:t>
            </a:r>
            <a:endParaRPr lang="en-US" sz="90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9"/>
          <a:srcRect l="-6" r="-6"/>
          <a:stretch/>
        </p:blipFill>
        <p:spPr>
          <a:xfrm>
            <a:off x="847649" y="3119933"/>
            <a:ext cx="2885846" cy="988466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1037844" y="3272638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1080821" y="3330245"/>
            <a:ext cx="142646" cy="11430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1037844" y="3577133"/>
            <a:ext cx="25438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Guidance</a:t>
            </a:r>
            <a:endParaRPr lang="en-US" sz="1000"/>
          </a:p>
        </p:txBody>
      </p:sp>
      <p:sp>
        <p:nvSpPr>
          <p:cNvPr id="29" name="Text 16"/>
          <p:cNvSpPr txBox="1"/>
          <p:nvPr/>
        </p:nvSpPr>
        <p:spPr>
          <a:xfrm>
            <a:off x="1037844" y="3796589"/>
            <a:ext cx="30266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critical segments where deviation is costly</a:t>
            </a:r>
            <a:endParaRPr lang="en-US" sz="90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9"/>
          <a:srcRect l="-6" r="-6"/>
          <a:stretch/>
        </p:blipFill>
        <p:spPr>
          <a:xfrm>
            <a:off x="3886200" y="3119933"/>
            <a:ext cx="2885846" cy="988466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4076395" y="3272638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134002" y="3330245"/>
            <a:ext cx="114300" cy="114300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4076395" y="3577133"/>
            <a:ext cx="25438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Time-Dependent TSP</a:t>
            </a:r>
            <a:endParaRPr lang="en-US" sz="1000"/>
          </a:p>
        </p:txBody>
      </p:sp>
      <p:sp>
        <p:nvSpPr>
          <p:cNvPr id="34" name="Text 19"/>
          <p:cNvSpPr txBox="1"/>
          <p:nvPr/>
        </p:nvSpPr>
        <p:spPr>
          <a:xfrm>
            <a:off x="4076395" y="3796589"/>
            <a:ext cx="30266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 to time windows and traffic variability</a:t>
            </a:r>
            <a:endParaRPr lang="en-US" sz="900"/>
          </a:p>
        </p:txBody>
      </p:sp>
      <p:sp>
        <p:nvSpPr>
          <p:cNvPr id="35" name="Shape 20"/>
          <p:cNvSpPr/>
          <p:nvPr/>
        </p:nvSpPr>
        <p:spPr>
          <a:xfrm>
            <a:off x="609905" y="4476902"/>
            <a:ext cx="6400800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1"/>
          <p:cNvSpPr/>
          <p:nvPr/>
        </p:nvSpPr>
        <p:spPr>
          <a:xfrm>
            <a:off x="847649" y="5133442"/>
            <a:ext cx="5924398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4714646"/>
            <a:ext cx="304495" cy="304495"/>
          </a:xfrm>
          <a:prstGeom prst="rect">
            <a:avLst/>
          </a:prstGeom>
        </p:spPr>
      </p:pic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33602" y="4800600"/>
            <a:ext cx="133502" cy="133502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1266444" y="4753051"/>
            <a:ext cx="2063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Generalization Studies</a:t>
            </a:r>
            <a:endParaRPr lang="en-US" sz="1300"/>
          </a:p>
        </p:txBody>
      </p:sp>
      <p:sp>
        <p:nvSpPr>
          <p:cNvPr id="40" name="Shape 23"/>
          <p:cNvSpPr/>
          <p:nvPr/>
        </p:nvSpPr>
        <p:spPr>
          <a:xfrm>
            <a:off x="847649" y="5400446"/>
            <a:ext cx="57607" cy="57607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4"/>
          <p:cNvSpPr txBox="1"/>
          <p:nvPr/>
        </p:nvSpPr>
        <p:spPr>
          <a:xfrm>
            <a:off x="1000354" y="5343754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Instance size: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50, 100, 200, 500 nodes</a:t>
            </a:r>
            <a:endParaRPr lang="en-US" sz="1000"/>
          </a:p>
        </p:txBody>
      </p:sp>
      <p:sp>
        <p:nvSpPr>
          <p:cNvPr id="42" name="Shape 25"/>
          <p:cNvSpPr/>
          <p:nvPr/>
        </p:nvSpPr>
        <p:spPr>
          <a:xfrm>
            <a:off x="847649" y="5715000"/>
            <a:ext cx="57607" cy="57607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6"/>
          <p:cNvSpPr txBox="1"/>
          <p:nvPr/>
        </p:nvSpPr>
        <p:spPr>
          <a:xfrm>
            <a:off x="1000354" y="5658307"/>
            <a:ext cx="34994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density: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 ∈ {2,4,6,8} for KNN construction</a:t>
            </a:r>
            <a:endParaRPr lang="en-US" sz="1000"/>
          </a:p>
        </p:txBody>
      </p:sp>
      <p:sp>
        <p:nvSpPr>
          <p:cNvPr id="44" name="Shape 27"/>
          <p:cNvSpPr/>
          <p:nvPr/>
        </p:nvSpPr>
        <p:spPr>
          <a:xfrm>
            <a:off x="847649" y="6029554"/>
            <a:ext cx="57607" cy="57607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28"/>
          <p:cNvSpPr txBox="1"/>
          <p:nvPr/>
        </p:nvSpPr>
        <p:spPr>
          <a:xfrm>
            <a:off x="1000354" y="5971946"/>
            <a:ext cx="38715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Geographic spread: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urban vs. suburban/rural networks</a:t>
            </a:r>
            <a:endParaRPr lang="en-US" sz="1000"/>
          </a:p>
        </p:txBody>
      </p:sp>
      <p:sp>
        <p:nvSpPr>
          <p:cNvPr id="46" name="Shape 29"/>
          <p:cNvSpPr/>
          <p:nvPr/>
        </p:nvSpPr>
        <p:spPr>
          <a:xfrm>
            <a:off x="847649" y="6344107"/>
            <a:ext cx="57607" cy="57607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0"/>
          <p:cNvSpPr txBox="1"/>
          <p:nvPr/>
        </p:nvSpPr>
        <p:spPr>
          <a:xfrm>
            <a:off x="1000354" y="6286500"/>
            <a:ext cx="27998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Solver comparison: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LKH-3 vs. OR-Tools</a:t>
            </a:r>
            <a:endParaRPr lang="en-US" sz="1000"/>
          </a:p>
        </p:txBody>
      </p:sp>
      <p:sp>
        <p:nvSpPr>
          <p:cNvPr id="48" name="Shape 31"/>
          <p:cNvSpPr/>
          <p:nvPr/>
        </p:nvSpPr>
        <p:spPr>
          <a:xfrm>
            <a:off x="7295998" y="952805"/>
            <a:ext cx="4286707" cy="3333902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32"/>
          <p:cNvSpPr/>
          <p:nvPr/>
        </p:nvSpPr>
        <p:spPr>
          <a:xfrm>
            <a:off x="7534656" y="1609344"/>
            <a:ext cx="38103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656" y="1190549"/>
            <a:ext cx="304495" cy="304495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7629754" y="1276502"/>
            <a:ext cx="114300" cy="133502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7953451" y="1228954"/>
            <a:ext cx="26078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Time-Dependent Extensions</a:t>
            </a:r>
            <a:endParaRPr lang="en-US" sz="1300"/>
          </a:p>
        </p:txBody>
      </p:sp>
      <p:sp>
        <p:nvSpPr>
          <p:cNvPr id="53" name="Shape 34"/>
          <p:cNvSpPr/>
          <p:nvPr/>
        </p:nvSpPr>
        <p:spPr>
          <a:xfrm>
            <a:off x="7534656" y="1837944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91349" y="1895551"/>
            <a:ext cx="114300" cy="114300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7877556" y="1819656"/>
            <a:ext cx="34674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Time-expanded graph:</a:t>
            </a:r>
            <a:r>
              <a:rPr lang="en-US" sz="11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Edge (u,v,t) with travel time dependent on departure time t</a:t>
            </a:r>
            <a:endParaRPr lang="en-US" sz="1100"/>
          </a:p>
        </p:txBody>
      </p:sp>
      <p:sp>
        <p:nvSpPr>
          <p:cNvPr id="56" name="Shape 36"/>
          <p:cNvSpPr/>
          <p:nvPr/>
        </p:nvSpPr>
        <p:spPr>
          <a:xfrm>
            <a:off x="7534656" y="2419502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18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591349" y="2476195"/>
            <a:ext cx="114300" cy="114300"/>
          </a:xfrm>
          <a:prstGeom prst="rect">
            <a:avLst/>
          </a:prstGeom>
        </p:spPr>
      </p:pic>
      <p:sp>
        <p:nvSpPr>
          <p:cNvPr id="58" name="Text 37"/>
          <p:cNvSpPr txBox="1"/>
          <p:nvPr/>
        </p:nvSpPr>
        <p:spPr>
          <a:xfrm>
            <a:off x="7877556" y="2400300"/>
            <a:ext cx="34674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copies:</a:t>
            </a:r>
            <a:r>
              <a:rPr lang="en-US" sz="11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Penalize all copies of an edge simultaneously</a:t>
            </a:r>
            <a:endParaRPr lang="en-US" sz="1100"/>
          </a:p>
        </p:txBody>
      </p:sp>
      <p:sp>
        <p:nvSpPr>
          <p:cNvPr id="59" name="Shape 38"/>
          <p:cNvSpPr/>
          <p:nvPr/>
        </p:nvSpPr>
        <p:spPr>
          <a:xfrm>
            <a:off x="7534656" y="300014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9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591349" y="3057754"/>
            <a:ext cx="114300" cy="114300"/>
          </a:xfrm>
          <a:prstGeom prst="rect">
            <a:avLst/>
          </a:prstGeom>
        </p:spPr>
      </p:pic>
      <p:sp>
        <p:nvSpPr>
          <p:cNvPr id="61" name="Text 39"/>
          <p:cNvSpPr txBox="1"/>
          <p:nvPr/>
        </p:nvSpPr>
        <p:spPr>
          <a:xfrm>
            <a:off x="7877556" y="2980944"/>
            <a:ext cx="34674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integration:</a:t>
            </a:r>
            <a:r>
              <a:rPr lang="en-US" sz="11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Incorporate time-window metadata in prompts</a:t>
            </a:r>
            <a:endParaRPr lang="en-US" sz="1100"/>
          </a:p>
        </p:txBody>
      </p:sp>
      <p:sp>
        <p:nvSpPr>
          <p:cNvPr id="62" name="Shape 40"/>
          <p:cNvSpPr/>
          <p:nvPr/>
        </p:nvSpPr>
        <p:spPr>
          <a:xfrm>
            <a:off x="7295998" y="4476902"/>
            <a:ext cx="4286707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41"/>
          <p:cNvSpPr/>
          <p:nvPr/>
        </p:nvSpPr>
        <p:spPr>
          <a:xfrm>
            <a:off x="7534656" y="5133442"/>
            <a:ext cx="38103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64" name="Image 2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656" y="4714646"/>
            <a:ext cx="304495" cy="304495"/>
          </a:xfrm>
          <a:prstGeom prst="rect">
            <a:avLst/>
          </a:prstGeom>
        </p:spPr>
      </p:pic>
      <p:pic>
        <p:nvPicPr>
          <p:cNvPr id="65" name="Image 21" descr="preencoded.png"/>
          <p:cNvPicPr>
            <a:picLocks noChangeAspect="1"/>
          </p:cNvPicPr>
          <p:nvPr/>
        </p:nvPicPr>
        <p:blipFill>
          <a:blip r:embed="rId16"/>
          <a:srcRect l="-837" r="-837"/>
          <a:stretch/>
        </p:blipFill>
        <p:spPr>
          <a:xfrm>
            <a:off x="7610551" y="4800600"/>
            <a:ext cx="152705" cy="133502"/>
          </a:xfrm>
          <a:prstGeom prst="rect">
            <a:avLst/>
          </a:prstGeom>
        </p:spPr>
      </p:pic>
      <p:sp>
        <p:nvSpPr>
          <p:cNvPr id="66" name="Text 42"/>
          <p:cNvSpPr txBox="1"/>
          <p:nvPr/>
        </p:nvSpPr>
        <p:spPr>
          <a:xfrm>
            <a:off x="7953451" y="4753051"/>
            <a:ext cx="2108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Status</a:t>
            </a:r>
            <a:endParaRPr lang="en-US" sz="1300"/>
          </a:p>
        </p:txBody>
      </p:sp>
      <p:sp>
        <p:nvSpPr>
          <p:cNvPr id="67" name="Shape 43"/>
          <p:cNvSpPr/>
          <p:nvPr/>
        </p:nvSpPr>
        <p:spPr>
          <a:xfrm>
            <a:off x="7534656" y="5386730"/>
            <a:ext cx="75895" cy="7589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44"/>
          <p:cNvSpPr txBox="1"/>
          <p:nvPr/>
        </p:nvSpPr>
        <p:spPr>
          <a:xfrm>
            <a:off x="7686446" y="5343754"/>
            <a:ext cx="10863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Pruning</a:t>
            </a:r>
            <a:endParaRPr lang="en-US" sz="900"/>
          </a:p>
        </p:txBody>
      </p:sp>
      <p:sp>
        <p:nvSpPr>
          <p:cNvPr id="69" name="Shape 45"/>
          <p:cNvSpPr/>
          <p:nvPr/>
        </p:nvSpPr>
        <p:spPr>
          <a:xfrm>
            <a:off x="9496044" y="5386730"/>
            <a:ext cx="75895" cy="7589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46"/>
          <p:cNvSpPr txBox="1"/>
          <p:nvPr/>
        </p:nvSpPr>
        <p:spPr>
          <a:xfrm>
            <a:off x="9648749" y="5343754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Routing</a:t>
            </a:r>
            <a:endParaRPr lang="en-US" sz="900"/>
          </a:p>
        </p:txBody>
      </p:sp>
      <p:sp>
        <p:nvSpPr>
          <p:cNvPr id="71" name="Shape 47"/>
          <p:cNvSpPr/>
          <p:nvPr/>
        </p:nvSpPr>
        <p:spPr>
          <a:xfrm>
            <a:off x="7534656" y="5662879"/>
            <a:ext cx="75895" cy="7589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48"/>
          <p:cNvSpPr txBox="1"/>
          <p:nvPr/>
        </p:nvSpPr>
        <p:spPr>
          <a:xfrm>
            <a:off x="7686446" y="5619902"/>
            <a:ext cx="12463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Guidance</a:t>
            </a:r>
            <a:endParaRPr lang="en-US" sz="900"/>
          </a:p>
        </p:txBody>
      </p:sp>
      <p:sp>
        <p:nvSpPr>
          <p:cNvPr id="73" name="Shape 49"/>
          <p:cNvSpPr/>
          <p:nvPr/>
        </p:nvSpPr>
        <p:spPr>
          <a:xfrm>
            <a:off x="9496044" y="5662879"/>
            <a:ext cx="75895" cy="7589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0"/>
          <p:cNvSpPr txBox="1"/>
          <p:nvPr/>
        </p:nvSpPr>
        <p:spPr>
          <a:xfrm>
            <a:off x="9648749" y="5619902"/>
            <a:ext cx="11804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Time-Dependent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635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r>
              <a:rPr lang="en-US" sz="27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Key Achievements</a:t>
            </a:r>
            <a:endParaRPr lang="en-US" sz="2700"/>
          </a:p>
        </p:txBody>
      </p:sp>
      <p:sp>
        <p:nvSpPr>
          <p:cNvPr id="6" name="Text 3"/>
          <p:cNvSpPr txBox="1"/>
          <p:nvPr/>
        </p:nvSpPr>
        <p:spPr>
          <a:xfrm>
            <a:off x="609295" y="662441"/>
            <a:ext cx="5693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the Eval-1 framework implementation and validation</a:t>
            </a:r>
            <a:endParaRPr lang="en-US" sz="12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11205" y="309982"/>
            <a:ext cx="571500" cy="5715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82198" y="480974"/>
            <a:ext cx="228600" cy="228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09905" y="952805"/>
            <a:ext cx="6400800" cy="250545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771754" y="1495958"/>
            <a:ext cx="6077102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1114654"/>
            <a:ext cx="304495" cy="30449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847649" y="1200607"/>
            <a:ext cx="152705" cy="13350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90549" y="1152144"/>
            <a:ext cx="200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Achievements</a:t>
            </a:r>
            <a:endParaRPr lang="en-US" sz="1300"/>
          </a:p>
        </p:txBody>
      </p:sp>
      <p:sp>
        <p:nvSpPr>
          <p:cNvPr id="14" name="Shape 7"/>
          <p:cNvSpPr/>
          <p:nvPr/>
        </p:nvSpPr>
        <p:spPr>
          <a:xfrm>
            <a:off x="771754" y="1647749"/>
            <a:ext cx="267005" cy="2670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52221" y="1723644"/>
            <a:ext cx="105156" cy="1143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133856" y="1628546"/>
            <a:ext cx="5715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Eval-1 Framework Implementation</a:t>
            </a:r>
            <a:endParaRPr lang="en-US" sz="900"/>
          </a:p>
        </p:txBody>
      </p:sp>
      <p:sp>
        <p:nvSpPr>
          <p:cNvPr id="17" name="Text 9"/>
          <p:cNvSpPr txBox="1"/>
          <p:nvPr/>
        </p:nvSpPr>
        <p:spPr>
          <a:xfrm>
            <a:off x="1133856" y="1840687"/>
            <a:ext cx="5715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Successfully implemented and validated the ground-truth edge importance framework for TSP instances derived from real-world last-mile delivery data.</a:t>
            </a:r>
            <a:endParaRPr lang="en-US" sz="900"/>
          </a:p>
        </p:txBody>
      </p:sp>
      <p:sp>
        <p:nvSpPr>
          <p:cNvPr id="18" name="Shape 10"/>
          <p:cNvSpPr/>
          <p:nvPr/>
        </p:nvSpPr>
        <p:spPr>
          <a:xfrm>
            <a:off x="771754" y="2255825"/>
            <a:ext cx="267005" cy="2670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52221" y="2331720"/>
            <a:ext cx="105156" cy="1143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133856" y="2236622"/>
            <a:ext cx="5715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Importance Scores Computation</a:t>
            </a:r>
            <a:endParaRPr lang="en-US" sz="900"/>
          </a:p>
        </p:txBody>
      </p:sp>
      <p:sp>
        <p:nvSpPr>
          <p:cNvPr id="21" name="Text 12"/>
          <p:cNvSpPr txBox="1"/>
          <p:nvPr/>
        </p:nvSpPr>
        <p:spPr>
          <a:xfrm>
            <a:off x="1133856" y="2447849"/>
            <a:ext cx="5715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Computed exact importance scores via parallel solver invocations with warm-starting, enabling efficient evaluation on instances with 100+ nodes.</a:t>
            </a:r>
            <a:endParaRPr lang="en-US" sz="900"/>
          </a:p>
        </p:txBody>
      </p:sp>
      <p:sp>
        <p:nvSpPr>
          <p:cNvPr id="22" name="Shape 13"/>
          <p:cNvSpPr/>
          <p:nvPr/>
        </p:nvSpPr>
        <p:spPr>
          <a:xfrm>
            <a:off x="771754" y="2862986"/>
            <a:ext cx="267005" cy="267005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52221" y="2939796"/>
            <a:ext cx="105156" cy="1143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133856" y="2843784"/>
            <a:ext cx="5715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Provision</a:t>
            </a:r>
            <a:endParaRPr lang="en-US" sz="900"/>
          </a:p>
        </p:txBody>
      </p:sp>
      <p:sp>
        <p:nvSpPr>
          <p:cNvPr id="25" name="Text 15"/>
          <p:cNvSpPr txBox="1"/>
          <p:nvPr/>
        </p:nvSpPr>
        <p:spPr>
          <a:xfrm>
            <a:off x="1133856" y="3055925"/>
            <a:ext cx="6400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critical benchmark for training and validating learning-based edge importance predictors (LLMs, GNNs).</a:t>
            </a:r>
            <a:endParaRPr lang="en-US" sz="900"/>
          </a:p>
        </p:txBody>
      </p:sp>
      <p:sp>
        <p:nvSpPr>
          <p:cNvPr id="26" name="Shape 16"/>
          <p:cNvSpPr/>
          <p:nvPr/>
        </p:nvSpPr>
        <p:spPr>
          <a:xfrm>
            <a:off x="609905" y="3606394"/>
            <a:ext cx="6400800" cy="2391156"/>
          </a:xfrm>
          <a:prstGeom prst="roundRect">
            <a:avLst>
              <a:gd name="adj" fmla="val 36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771754" y="4149547"/>
            <a:ext cx="6077102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3768242"/>
            <a:ext cx="304495" cy="304495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838505" y="3854196"/>
            <a:ext cx="171907" cy="13350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190549" y="3805733"/>
            <a:ext cx="2392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Implementation</a:t>
            </a:r>
            <a:endParaRPr lang="en-US" sz="1300"/>
          </a:p>
        </p:txBody>
      </p:sp>
      <p:sp>
        <p:nvSpPr>
          <p:cNvPr id="31" name="Shape 19"/>
          <p:cNvSpPr/>
          <p:nvPr/>
        </p:nvSpPr>
        <p:spPr>
          <a:xfrm>
            <a:off x="771754" y="4282135"/>
            <a:ext cx="2980944" cy="724205"/>
          </a:xfrm>
          <a:prstGeom prst="roundRect">
            <a:avLst>
              <a:gd name="adj" fmla="val 26582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0"/>
          <p:cNvSpPr txBox="1"/>
          <p:nvPr/>
        </p:nvSpPr>
        <p:spPr>
          <a:xfrm>
            <a:off x="866851" y="4377233"/>
            <a:ext cx="27916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119</a:t>
            </a:r>
            <a:endParaRPr lang="en-US" sz="1500"/>
          </a:p>
        </p:txBody>
      </p:sp>
      <p:sp>
        <p:nvSpPr>
          <p:cNvPr id="33" name="Text 21"/>
          <p:cNvSpPr txBox="1"/>
          <p:nvPr/>
        </p:nvSpPr>
        <p:spPr>
          <a:xfrm>
            <a:off x="866851" y="4720133"/>
            <a:ext cx="2791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 Processed</a:t>
            </a:r>
            <a:endParaRPr lang="en-US" sz="900"/>
          </a:p>
        </p:txBody>
      </p:sp>
      <p:sp>
        <p:nvSpPr>
          <p:cNvPr id="34" name="Shape 22"/>
          <p:cNvSpPr/>
          <p:nvPr/>
        </p:nvSpPr>
        <p:spPr>
          <a:xfrm>
            <a:off x="3866998" y="4282135"/>
            <a:ext cx="2980944" cy="724205"/>
          </a:xfrm>
          <a:prstGeom prst="roundRect">
            <a:avLst>
              <a:gd name="adj" fmla="val 26582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3"/>
          <p:cNvSpPr txBox="1"/>
          <p:nvPr/>
        </p:nvSpPr>
        <p:spPr>
          <a:xfrm>
            <a:off x="3962095" y="4377233"/>
            <a:ext cx="27916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3-5min</a:t>
            </a:r>
            <a:endParaRPr lang="en-US" sz="1500"/>
          </a:p>
        </p:txBody>
      </p:sp>
      <p:sp>
        <p:nvSpPr>
          <p:cNvPr id="36" name="Text 24"/>
          <p:cNvSpPr txBox="1"/>
          <p:nvPr/>
        </p:nvSpPr>
        <p:spPr>
          <a:xfrm>
            <a:off x="3962095" y="4720133"/>
            <a:ext cx="2791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</a:t>
            </a:r>
            <a:endParaRPr lang="en-US" sz="900"/>
          </a:p>
        </p:txBody>
      </p:sp>
      <p:sp>
        <p:nvSpPr>
          <p:cNvPr id="37" name="Shape 25"/>
          <p:cNvSpPr/>
          <p:nvPr/>
        </p:nvSpPr>
        <p:spPr>
          <a:xfrm>
            <a:off x="771754" y="5113325"/>
            <a:ext cx="2980944" cy="724205"/>
          </a:xfrm>
          <a:prstGeom prst="roundRect">
            <a:avLst>
              <a:gd name="adj" fmla="val 26582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866851" y="5208422"/>
            <a:ext cx="27916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7×</a:t>
            </a:r>
            <a:endParaRPr lang="en-US" sz="1500"/>
          </a:p>
        </p:txBody>
      </p:sp>
      <p:sp>
        <p:nvSpPr>
          <p:cNvPr id="39" name="Text 27"/>
          <p:cNvSpPr txBox="1"/>
          <p:nvPr/>
        </p:nvSpPr>
        <p:spPr>
          <a:xfrm>
            <a:off x="866851" y="5551322"/>
            <a:ext cx="2791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Speedup</a:t>
            </a:r>
            <a:endParaRPr lang="en-US" sz="900"/>
          </a:p>
        </p:txBody>
      </p:sp>
      <p:sp>
        <p:nvSpPr>
          <p:cNvPr id="40" name="Shape 28"/>
          <p:cNvSpPr/>
          <p:nvPr/>
        </p:nvSpPr>
        <p:spPr>
          <a:xfrm>
            <a:off x="3866998" y="5113325"/>
            <a:ext cx="2980944" cy="724205"/>
          </a:xfrm>
          <a:prstGeom prst="roundRect">
            <a:avLst>
              <a:gd name="adj" fmla="val 26582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3962095" y="5208422"/>
            <a:ext cx="27916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1500"/>
          </a:p>
        </p:txBody>
      </p:sp>
      <p:sp>
        <p:nvSpPr>
          <p:cNvPr id="42" name="Text 30"/>
          <p:cNvSpPr txBox="1"/>
          <p:nvPr/>
        </p:nvSpPr>
        <p:spPr>
          <a:xfrm>
            <a:off x="3962095" y="5551322"/>
            <a:ext cx="2791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Rate</a:t>
            </a:r>
            <a:endParaRPr lang="en-US" sz="900"/>
          </a:p>
        </p:txBody>
      </p:sp>
      <p:sp>
        <p:nvSpPr>
          <p:cNvPr id="43" name="Shape 31"/>
          <p:cNvSpPr/>
          <p:nvPr/>
        </p:nvSpPr>
        <p:spPr>
          <a:xfrm>
            <a:off x="7295998" y="1885949"/>
            <a:ext cx="4286707" cy="3210459"/>
          </a:xfrm>
          <a:prstGeom prst="roundRect">
            <a:avLst>
              <a:gd name="adj" fmla="val 19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7457846" y="2503086"/>
            <a:ext cx="396209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57846" y="2127764"/>
            <a:ext cx="304495" cy="304495"/>
          </a:xfrm>
          <a:prstGeom prst="rect">
            <a:avLst/>
          </a:prstGeom>
        </p:spPr>
      </p:pic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543800" y="2213717"/>
            <a:ext cx="133502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878928" y="2223612"/>
            <a:ext cx="2482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Future Directions</a:t>
            </a:r>
            <a:endParaRPr lang="en-US" sz="1300"/>
          </a:p>
        </p:txBody>
      </p:sp>
      <p:sp>
        <p:nvSpPr>
          <p:cNvPr id="48" name="Shape 34"/>
          <p:cNvSpPr/>
          <p:nvPr/>
        </p:nvSpPr>
        <p:spPr>
          <a:xfrm>
            <a:off x="7457846" y="2735176"/>
            <a:ext cx="3962095" cy="543154"/>
          </a:xfrm>
          <a:prstGeom prst="roundRect">
            <a:avLst>
              <a:gd name="adj" fmla="val 47256"/>
            </a:avLst>
          </a:prstGeom>
          <a:solidFill>
            <a:srgbClr val="F8F9FA"/>
          </a:solidFill>
          <a:ln/>
        </p:spPr>
      </p:sp>
      <p:sp>
        <p:nvSpPr>
          <p:cNvPr id="49" name="Shape 35"/>
          <p:cNvSpPr/>
          <p:nvPr/>
        </p:nvSpPr>
        <p:spPr>
          <a:xfrm>
            <a:off x="7457846" y="2735176"/>
            <a:ext cx="38405" cy="543154"/>
          </a:xfrm>
          <a:prstGeom prst="roundRect">
            <a:avLst>
              <a:gd name="adj" fmla="val 668334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>
            <a:off x="7591349" y="288971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653528" y="2947317"/>
            <a:ext cx="105156" cy="11430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7915046" y="2830274"/>
            <a:ext cx="34107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Python implementation integrating seamlessly with LKH-3 solver</a:t>
            </a:r>
            <a:endParaRPr lang="en-US" sz="900"/>
          </a:p>
        </p:txBody>
      </p:sp>
      <p:sp>
        <p:nvSpPr>
          <p:cNvPr id="53" name="Shape 38"/>
          <p:cNvSpPr/>
          <p:nvPr/>
        </p:nvSpPr>
        <p:spPr>
          <a:xfrm>
            <a:off x="7457846" y="3546163"/>
            <a:ext cx="3962095" cy="543154"/>
          </a:xfrm>
          <a:prstGeom prst="roundRect">
            <a:avLst>
              <a:gd name="adj" fmla="val 47256"/>
            </a:avLst>
          </a:prstGeom>
          <a:solidFill>
            <a:srgbClr val="F8F9FA"/>
          </a:solidFill>
          <a:ln/>
        </p:spPr>
      </p:sp>
      <p:sp>
        <p:nvSpPr>
          <p:cNvPr id="54" name="Shape 39"/>
          <p:cNvSpPr/>
          <p:nvPr/>
        </p:nvSpPr>
        <p:spPr>
          <a:xfrm>
            <a:off x="7457846" y="3546163"/>
            <a:ext cx="38405" cy="543154"/>
          </a:xfrm>
          <a:prstGeom prst="roundRect">
            <a:avLst>
              <a:gd name="adj" fmla="val 668334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7591349" y="3700696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653528" y="3757389"/>
            <a:ext cx="105156" cy="114300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7915046" y="3641260"/>
            <a:ext cx="34107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 for intelligent routing systems that can predict critical edges</a:t>
            </a:r>
            <a:endParaRPr lang="en-US" sz="900"/>
          </a:p>
        </p:txBody>
      </p:sp>
      <p:sp>
        <p:nvSpPr>
          <p:cNvPr id="58" name="Shape 42"/>
          <p:cNvSpPr/>
          <p:nvPr/>
        </p:nvSpPr>
        <p:spPr>
          <a:xfrm>
            <a:off x="7457846" y="4357153"/>
            <a:ext cx="3962095" cy="418795"/>
          </a:xfrm>
          <a:prstGeom prst="roundRect">
            <a:avLst>
              <a:gd name="adj" fmla="val 79397"/>
            </a:avLst>
          </a:prstGeom>
          <a:solidFill>
            <a:srgbClr val="F8F9FA"/>
          </a:solidFill>
          <a:ln/>
        </p:spPr>
      </p:sp>
      <p:sp>
        <p:nvSpPr>
          <p:cNvPr id="59" name="Shape 43"/>
          <p:cNvSpPr/>
          <p:nvPr/>
        </p:nvSpPr>
        <p:spPr>
          <a:xfrm>
            <a:off x="7457846" y="4357153"/>
            <a:ext cx="38405" cy="418795"/>
          </a:xfrm>
          <a:prstGeom prst="roundRect">
            <a:avLst>
              <a:gd name="adj" fmla="val 865796"/>
            </a:avLst>
          </a:prstGeom>
          <a:solidFill>
            <a:srgbClr val="E94560"/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60" name="Shape 44"/>
          <p:cNvSpPr/>
          <p:nvPr/>
        </p:nvSpPr>
        <p:spPr>
          <a:xfrm>
            <a:off x="7591349" y="4452251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653528" y="4509858"/>
            <a:ext cx="105156" cy="114300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7915046" y="4479683"/>
            <a:ext cx="37078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across systems and extensible for future variants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28600"/>
            <a:ext cx="1060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E6445F"/>
                </a:solidFill>
                <a:latin typeface="Segoe UI"/>
                <a:ea typeface="Segoe UI" pitchFamily="34" charset="-122"/>
                <a:cs typeface="Segoe UI"/>
              </a:rPr>
              <a:t>Scaling</a:t>
            </a:r>
            <a:r>
              <a:rPr lang="en-US" sz="2700" b="1">
                <a:solidFill>
                  <a:srgbClr val="1A1A2E"/>
                </a:solidFill>
                <a:latin typeface="Segoe UI"/>
                <a:ea typeface="Segoe UI" pitchFamily="34" charset="-122"/>
                <a:cs typeface="Segoe UI"/>
              </a:rPr>
              <a:t> &amp; Learning-Based Predictors</a:t>
            </a:r>
            <a:endParaRPr lang="en-US" sz="2700">
              <a:latin typeface="Segoe UI"/>
              <a:cs typeface="Segoe UI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8420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Large-scale processing, GNNs, attention models, and generalization studies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609905" y="1078369"/>
            <a:ext cx="6877202" cy="2511275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7649" y="1571854"/>
            <a:ext cx="6400800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190549"/>
            <a:ext cx="304495" cy="30449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1276502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66444" y="1228954"/>
            <a:ext cx="26983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Large-Scale Batch Processing</a:t>
            </a:r>
            <a:endParaRPr lang="en-US" sz="1300"/>
          </a:p>
        </p:txBody>
      </p:sp>
      <p:sp>
        <p:nvSpPr>
          <p:cNvPr id="14" name="Shape 9"/>
          <p:cNvSpPr/>
          <p:nvPr/>
        </p:nvSpPr>
        <p:spPr>
          <a:xfrm>
            <a:off x="847649" y="1762049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909828" y="1819656"/>
            <a:ext cx="105156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90549" y="1742846"/>
            <a:ext cx="6201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Multi-route parallelism: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Distribute outer loop over routes using job queues (AWS Batch/Ray)</a:t>
            </a:r>
            <a:endParaRPr lang="en-US" sz="1000"/>
          </a:p>
        </p:txBody>
      </p:sp>
      <p:sp>
        <p:nvSpPr>
          <p:cNvPr id="17" name="Shape 11"/>
          <p:cNvSpPr/>
          <p:nvPr/>
        </p:nvSpPr>
        <p:spPr>
          <a:xfrm>
            <a:off x="847649" y="2124151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909828" y="2180844"/>
            <a:ext cx="105156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90549" y="2104949"/>
            <a:ext cx="6268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Incremental caching: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Store intermediate results for re-computation only when matrix changes</a:t>
            </a:r>
            <a:endParaRPr lang="en-US" sz="1000"/>
          </a:p>
        </p:txBody>
      </p:sp>
      <p:sp>
        <p:nvSpPr>
          <p:cNvPr id="20" name="Shape 13"/>
          <p:cNvSpPr/>
          <p:nvPr/>
        </p:nvSpPr>
        <p:spPr>
          <a:xfrm>
            <a:off x="847649" y="2486254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909828" y="2542946"/>
            <a:ext cx="105156" cy="1143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90549" y="2467051"/>
            <a:ext cx="5077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Warm-start at scale: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Investigate speedup for instances beyond 200 nodes</a:t>
            </a:r>
            <a:endParaRPr lang="en-US" sz="1000"/>
          </a:p>
        </p:txBody>
      </p:sp>
      <p:sp>
        <p:nvSpPr>
          <p:cNvPr id="23" name="Text 15"/>
          <p:cNvSpPr txBox="1"/>
          <p:nvPr/>
        </p:nvSpPr>
        <p:spPr>
          <a:xfrm>
            <a:off x="836676" y="2943454"/>
            <a:ext cx="44257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200+</a:t>
            </a:r>
            <a:endParaRPr lang="en-US" sz="1300"/>
          </a:p>
        </p:txBody>
      </p:sp>
      <p:sp>
        <p:nvSpPr>
          <p:cNvPr id="24" name="Text 16"/>
          <p:cNvSpPr txBox="1"/>
          <p:nvPr/>
        </p:nvSpPr>
        <p:spPr>
          <a:xfrm>
            <a:off x="847649" y="3217774"/>
            <a:ext cx="4197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</a:t>
            </a:r>
            <a:endParaRPr lang="en-US" sz="800"/>
          </a:p>
        </p:txBody>
      </p:sp>
      <p:sp>
        <p:nvSpPr>
          <p:cNvPr id="25" name="Text 17"/>
          <p:cNvSpPr txBox="1"/>
          <p:nvPr/>
        </p:nvSpPr>
        <p:spPr>
          <a:xfrm>
            <a:off x="3862426" y="2943454"/>
            <a:ext cx="4096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1300"/>
          </a:p>
        </p:txBody>
      </p:sp>
      <p:sp>
        <p:nvSpPr>
          <p:cNvPr id="26" name="Text 18"/>
          <p:cNvSpPr txBox="1"/>
          <p:nvPr/>
        </p:nvSpPr>
        <p:spPr>
          <a:xfrm>
            <a:off x="3816706" y="3217774"/>
            <a:ext cx="5020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Speedup</a:t>
            </a:r>
            <a:endParaRPr lang="en-US" sz="800"/>
          </a:p>
        </p:txBody>
      </p:sp>
      <p:sp>
        <p:nvSpPr>
          <p:cNvPr id="27" name="Text 19"/>
          <p:cNvSpPr txBox="1"/>
          <p:nvPr/>
        </p:nvSpPr>
        <p:spPr>
          <a:xfrm>
            <a:off x="6868973" y="2943454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/>
          </a:p>
        </p:txBody>
      </p:sp>
      <p:sp>
        <p:nvSpPr>
          <p:cNvPr id="28" name="Text 20"/>
          <p:cNvSpPr txBox="1"/>
          <p:nvPr/>
        </p:nvSpPr>
        <p:spPr>
          <a:xfrm>
            <a:off x="6811366" y="3217774"/>
            <a:ext cx="497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</a:t>
            </a:r>
            <a:endParaRPr lang="en-US" sz="800"/>
          </a:p>
        </p:txBody>
      </p:sp>
      <p:sp>
        <p:nvSpPr>
          <p:cNvPr id="29" name="Shape 21"/>
          <p:cNvSpPr/>
          <p:nvPr/>
        </p:nvSpPr>
        <p:spPr>
          <a:xfrm>
            <a:off x="609905" y="3693792"/>
            <a:ext cx="6877202" cy="2881129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847649" y="4230352"/>
            <a:ext cx="6400800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3849047"/>
            <a:ext cx="304495" cy="304495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33602" y="3935001"/>
            <a:ext cx="133502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266444" y="3887452"/>
            <a:ext cx="2425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Learning-Based Predictors</a:t>
            </a:r>
            <a:endParaRPr lang="en-US" sz="130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rcRect l="-12" r="-12"/>
          <a:stretch/>
        </p:blipFill>
        <p:spPr>
          <a:xfrm>
            <a:off x="847649" y="4401345"/>
            <a:ext cx="3124505" cy="1009498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1009498" y="4612571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rcRect t="-870" b="-870"/>
          <a:stretch/>
        </p:blipFill>
        <p:spPr>
          <a:xfrm>
            <a:off x="1052474" y="4660120"/>
            <a:ext cx="105156" cy="9509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276502" y="4601598"/>
            <a:ext cx="362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GNNs</a:t>
            </a:r>
            <a:endParaRPr lang="en-US" sz="1000"/>
          </a:p>
        </p:txBody>
      </p:sp>
      <p:sp>
        <p:nvSpPr>
          <p:cNvPr id="38" name="Text 26"/>
          <p:cNvSpPr txBox="1"/>
          <p:nvPr/>
        </p:nvSpPr>
        <p:spPr>
          <a:xfrm>
            <a:off x="1009498" y="4891463"/>
            <a:ext cx="28008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Attention Networks (GAT) or GCN for per-edge importance</a:t>
            </a:r>
            <a:endParaRPr lang="en-US" sz="90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8"/>
          <a:srcRect l="-12" r="-12"/>
          <a:stretch/>
        </p:blipFill>
        <p:spPr>
          <a:xfrm>
            <a:off x="4123944" y="4401345"/>
            <a:ext cx="3124505" cy="1009498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4286707" y="4612571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0"/>
          <a:srcRect t="-870" b="-870"/>
          <a:stretch/>
        </p:blipFill>
        <p:spPr>
          <a:xfrm>
            <a:off x="4328770" y="4660120"/>
            <a:ext cx="105156" cy="9509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4552798" y="4601598"/>
            <a:ext cx="1482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Models</a:t>
            </a:r>
            <a:endParaRPr lang="en-US" sz="1000"/>
          </a:p>
        </p:txBody>
      </p:sp>
      <p:sp>
        <p:nvSpPr>
          <p:cNvPr id="43" name="Text 29"/>
          <p:cNvSpPr txBox="1"/>
          <p:nvPr/>
        </p:nvSpPr>
        <p:spPr>
          <a:xfrm>
            <a:off x="4286707" y="4907008"/>
            <a:ext cx="33329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Transformer encoder for positional importance patterns</a:t>
            </a:r>
            <a:endParaRPr lang="en-US" sz="90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1"/>
          <a:srcRect l="-16" r="-16"/>
          <a:stretch/>
        </p:blipFill>
        <p:spPr>
          <a:xfrm>
            <a:off x="847649" y="5563547"/>
            <a:ext cx="3124505" cy="849478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1009498" y="5774774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2"/>
          <a:srcRect t="-870" b="-870"/>
          <a:stretch/>
        </p:blipFill>
        <p:spPr>
          <a:xfrm>
            <a:off x="1052474" y="5822322"/>
            <a:ext cx="105156" cy="95098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1276502" y="5763801"/>
            <a:ext cx="120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Models</a:t>
            </a:r>
            <a:endParaRPr lang="en-US" sz="1000"/>
          </a:p>
        </p:txBody>
      </p:sp>
      <p:sp>
        <p:nvSpPr>
          <p:cNvPr id="48" name="Text 32"/>
          <p:cNvSpPr txBox="1"/>
          <p:nvPr/>
        </p:nvSpPr>
        <p:spPr>
          <a:xfrm>
            <a:off x="1009498" y="6052751"/>
            <a:ext cx="33329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structural features with learned embeddings</a:t>
            </a:r>
            <a:endParaRPr lang="en-US" sz="90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1"/>
          <a:srcRect l="-16" r="-16"/>
          <a:stretch/>
        </p:blipFill>
        <p:spPr>
          <a:xfrm>
            <a:off x="4123944" y="5563547"/>
            <a:ext cx="3124505" cy="849478"/>
          </a:xfrm>
          <a:prstGeom prst="rect">
            <a:avLst/>
          </a:prstGeom>
        </p:spPr>
      </p:pic>
      <p:sp>
        <p:nvSpPr>
          <p:cNvPr id="50" name="Shape 33"/>
          <p:cNvSpPr/>
          <p:nvPr/>
        </p:nvSpPr>
        <p:spPr>
          <a:xfrm>
            <a:off x="4286707" y="5774774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334256" y="5822322"/>
            <a:ext cx="95098" cy="95098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4552798" y="5763801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Generalization</a:t>
            </a:r>
            <a:endParaRPr lang="en-US" sz="1000"/>
          </a:p>
        </p:txBody>
      </p:sp>
      <p:sp>
        <p:nvSpPr>
          <p:cNvPr id="53" name="Text 35"/>
          <p:cNvSpPr txBox="1"/>
          <p:nvPr/>
        </p:nvSpPr>
        <p:spPr>
          <a:xfrm>
            <a:off x="4286707" y="6052751"/>
            <a:ext cx="31299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Zero-shot generalization to unseen instances</a:t>
            </a:r>
            <a:endParaRPr lang="en-US" sz="900"/>
          </a:p>
        </p:txBody>
      </p:sp>
      <p:sp>
        <p:nvSpPr>
          <p:cNvPr id="54" name="Shape 36"/>
          <p:cNvSpPr/>
          <p:nvPr/>
        </p:nvSpPr>
        <p:spPr>
          <a:xfrm>
            <a:off x="7785315" y="2386398"/>
            <a:ext cx="3810305" cy="2762402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37"/>
          <p:cNvSpPr/>
          <p:nvPr/>
        </p:nvSpPr>
        <p:spPr>
          <a:xfrm>
            <a:off x="8023059" y="3005447"/>
            <a:ext cx="3333902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23059" y="2624142"/>
            <a:ext cx="304495" cy="304495"/>
          </a:xfrm>
          <a:prstGeom prst="rect">
            <a:avLst/>
          </a:prstGeom>
        </p:spPr>
      </p:pic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09013" y="2710095"/>
            <a:ext cx="133502" cy="133502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8442769" y="2662547"/>
            <a:ext cx="2063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Generalization Studies</a:t>
            </a:r>
            <a:endParaRPr lang="en-US" sz="1300"/>
          </a:p>
        </p:txBody>
      </p:sp>
      <p:sp>
        <p:nvSpPr>
          <p:cNvPr id="59" name="Shape 39"/>
          <p:cNvSpPr/>
          <p:nvPr/>
        </p:nvSpPr>
        <p:spPr>
          <a:xfrm>
            <a:off x="8023059" y="3290739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085238" y="3348347"/>
            <a:ext cx="105156" cy="114300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8365959" y="3271537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Instance size: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50, 100, 200, 500 nodes</a:t>
            </a:r>
            <a:endParaRPr lang="en-US" sz="1000"/>
          </a:p>
        </p:txBody>
      </p:sp>
      <p:sp>
        <p:nvSpPr>
          <p:cNvPr id="62" name="Shape 41"/>
          <p:cNvSpPr/>
          <p:nvPr/>
        </p:nvSpPr>
        <p:spPr>
          <a:xfrm>
            <a:off x="8023059" y="3728737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085238" y="3786344"/>
            <a:ext cx="105156" cy="114300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8365959" y="3710449"/>
            <a:ext cx="2595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density: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 ∈ {2,4,6,8} for KNN</a:t>
            </a:r>
            <a:endParaRPr lang="en-US" sz="1000"/>
          </a:p>
        </p:txBody>
      </p:sp>
      <p:sp>
        <p:nvSpPr>
          <p:cNvPr id="65" name="Shape 43"/>
          <p:cNvSpPr/>
          <p:nvPr/>
        </p:nvSpPr>
        <p:spPr>
          <a:xfrm>
            <a:off x="8023059" y="4167649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085238" y="4224342"/>
            <a:ext cx="105156" cy="114300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8365959" y="4148447"/>
            <a:ext cx="31857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Geographic spread: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Urban vs. rural networks</a:t>
            </a:r>
            <a:endParaRPr lang="en-US" sz="1000"/>
          </a:p>
        </p:txBody>
      </p:sp>
      <p:sp>
        <p:nvSpPr>
          <p:cNvPr id="68" name="Shape 45"/>
          <p:cNvSpPr/>
          <p:nvPr/>
        </p:nvSpPr>
        <p:spPr>
          <a:xfrm>
            <a:off x="8023059" y="4605647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085238" y="4662339"/>
            <a:ext cx="105156" cy="114300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8365959" y="4586444"/>
            <a:ext cx="27998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Solver comparison:</a:t>
            </a:r>
            <a:r>
              <a:rPr lang="en-US" sz="100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LKH-3 vs. OR-Tools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revision>48</cp:revision>
  <dcterms:created xsi:type="dcterms:W3CDTF">2026-05-04T09:15:36Z</dcterms:created>
  <dcterms:modified xsi:type="dcterms:W3CDTF">2026-05-04T10:42:35Z</dcterms:modified>
</cp:coreProperties>
</file>